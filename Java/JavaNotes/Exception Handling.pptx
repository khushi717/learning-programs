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8" r:id="rId2"/>
    <p:sldId id="259" r:id="rId3"/>
    <p:sldId id="260" r:id="rId4"/>
    <p:sldId id="261" r:id="rId5"/>
    <p:sldId id="263" r:id="rId6"/>
    <p:sldId id="264" r:id="rId7"/>
    <p:sldId id="265" r:id="rId8"/>
    <p:sldId id="266" r:id="rId9"/>
    <p:sldId id="267" r:id="rId10"/>
    <p:sldId id="269" r:id="rId11"/>
    <p:sldId id="270" r:id="rId12"/>
    <p:sldId id="271" r:id="rId13"/>
    <p:sldId id="272" r:id="rId14"/>
    <p:sldId id="273" r:id="rId15"/>
    <p:sldId id="274" r:id="rId16"/>
    <p:sldId id="275" r:id="rId17"/>
    <p:sldId id="277" r:id="rId18"/>
    <p:sldId id="279" r:id="rId19"/>
    <p:sldId id="280" r:id="rId20"/>
    <p:sldId id="281" r:id="rId21"/>
    <p:sldId id="282" r:id="rId22"/>
    <p:sldId id="283" r:id="rId23"/>
    <p:sldId id="28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79" d="100"/>
          <a:sy n="79" d="100"/>
        </p:scale>
        <p:origin x="6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D49B50-F180-4FDC-8595-7905846ABFC5}" type="datetimeFigureOut">
              <a:rPr lang="en-US" smtClean="0"/>
              <a:t>7/12/2024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D0B8BB-5ADD-4223-A634-88C0756FB7D3}" type="slidenum">
              <a:rPr lang="en-US" smtClean="0"/>
              <a:t>‹#›</a:t>
            </a:fld>
            <a:endParaRPr lang="en-US"/>
          </a:p>
        </p:txBody>
      </p:sp>
    </p:spTree>
    <p:extLst>
      <p:ext uri="{BB962C8B-B14F-4D97-AF65-F5344CB8AC3E}">
        <p14:creationId xmlns:p14="http://schemas.microsoft.com/office/powerpoint/2010/main" val="2771880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AE984C0-3C0F-4CD6-9A18-5FE61979C4A8}"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800814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E984C0-3C0F-4CD6-9A18-5FE61979C4A8}"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1553241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E984C0-3C0F-4CD6-9A18-5FE61979C4A8}"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3403124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E984C0-3C0F-4CD6-9A18-5FE61979C4A8}" type="datetimeFigureOut">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1965883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AE984C0-3C0F-4CD6-9A18-5FE61979C4A8}" type="datetimeFigureOut">
              <a:rPr lang="en-US" smtClean="0"/>
              <a:t>7/12/2024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2778782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AE984C0-3C0F-4CD6-9A18-5FE61979C4A8}" type="datetimeFigureOut">
              <a:rPr lang="en-US" smtClean="0"/>
              <a:t>7/12/2024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2071028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E984C0-3C0F-4CD6-9A18-5FE61979C4A8}" type="datetimeFigureOut">
              <a:rPr lang="en-US" smtClean="0"/>
              <a:t>7/12/2024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2938278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E984C0-3C0F-4CD6-9A18-5FE61979C4A8}" type="datetimeFigureOut">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3105534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E984C0-3C0F-4CD6-9A18-5FE61979C4A8}" type="datetimeFigureOut">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2077988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E984C0-3C0F-4CD6-9A18-5FE61979C4A8}"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1685066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E984C0-3C0F-4CD6-9A18-5FE61979C4A8}"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190455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E984C0-3C0F-4CD6-9A18-5FE61979C4A8}" type="datetimeFigureOut">
              <a:rPr lang="en-US" smtClean="0"/>
              <a:t>7/12/2024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37DDD-F5B5-4C18-A792-D6BF6C663DA5}" type="slidenum">
              <a:rPr lang="en-US" smtClean="0"/>
              <a:t>‹#›</a:t>
            </a:fld>
            <a:endParaRPr lang="en-US"/>
          </a:p>
        </p:txBody>
      </p:sp>
    </p:spTree>
    <p:extLst>
      <p:ext uri="{BB962C8B-B14F-4D97-AF65-F5344CB8AC3E}">
        <p14:creationId xmlns:p14="http://schemas.microsoft.com/office/powerpoint/2010/main" val="3619691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Exception:</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An Exception is an unwanted event </a:t>
            </a:r>
            <a:r>
              <a:rPr lang="en-US" sz="2400" dirty="0">
                <a:solidFill>
                  <a:srgbClr val="C00000"/>
                </a:solidFill>
                <a:latin typeface="Times New Roman" panose="02020603050405020304" pitchFamily="18" charset="0"/>
                <a:cs typeface="Times New Roman" panose="02020603050405020304" pitchFamily="18" charset="0"/>
              </a:rPr>
              <a:t>(Run Time Errors)</a:t>
            </a:r>
            <a:r>
              <a:rPr lang="en-US" sz="2400" dirty="0">
                <a:latin typeface="Times New Roman" panose="02020603050405020304" pitchFamily="18" charset="0"/>
                <a:cs typeface="Times New Roman" panose="02020603050405020304" pitchFamily="18" charset="0"/>
              </a:rPr>
              <a:t> that interrupts the normal flow of the program. When an exception occurs program execution gets terminated.</a:t>
            </a:r>
          </a:p>
          <a:p>
            <a:r>
              <a:rPr lang="en-US" sz="2400" dirty="0">
                <a:latin typeface="Times New Roman" panose="02020603050405020304" pitchFamily="18" charset="0"/>
                <a:cs typeface="Times New Roman" panose="02020603050405020304" pitchFamily="18" charset="0"/>
              </a:rPr>
              <a:t> In such cases we get a system generated error message.</a:t>
            </a:r>
          </a:p>
          <a:p>
            <a:r>
              <a:rPr lang="en-US" sz="2400" dirty="0">
                <a:latin typeface="Times New Roman" panose="02020603050405020304" pitchFamily="18" charset="0"/>
                <a:cs typeface="Times New Roman" panose="02020603050405020304" pitchFamily="18" charset="0"/>
              </a:rPr>
              <a:t>By handling the exceptions </a:t>
            </a:r>
            <a:r>
              <a:rPr lang="en-US" sz="2400" b="1" dirty="0">
                <a:solidFill>
                  <a:srgbClr val="C00000"/>
                </a:solidFill>
                <a:latin typeface="Times New Roman" panose="02020603050405020304" pitchFamily="18" charset="0"/>
                <a:cs typeface="Times New Roman" panose="02020603050405020304" pitchFamily="18" charset="0"/>
              </a:rPr>
              <a:t>java  provides a meaningful message </a:t>
            </a:r>
            <a:r>
              <a:rPr lang="en-US" sz="2400" dirty="0">
                <a:latin typeface="Times New Roman" panose="02020603050405020304" pitchFamily="18" charset="0"/>
                <a:cs typeface="Times New Roman" panose="02020603050405020304" pitchFamily="18" charset="0"/>
              </a:rPr>
              <a:t>to the user about the issue, rather than a system generated message, which may not be understandable to a user.</a:t>
            </a:r>
          </a:p>
        </p:txBody>
      </p:sp>
    </p:spTree>
    <p:extLst>
      <p:ext uri="{BB962C8B-B14F-4D97-AF65-F5344CB8AC3E}">
        <p14:creationId xmlns:p14="http://schemas.microsoft.com/office/powerpoint/2010/main" val="266803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Exception Handling</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If an exception occurs, which has not been handled by programmer then program execution gets terminated and a system generated error message is shown to the user.</a:t>
            </a:r>
          </a:p>
          <a:p>
            <a:endParaRPr lang="en-US" dirty="0"/>
          </a:p>
        </p:txBody>
      </p:sp>
      <p:pic>
        <p:nvPicPr>
          <p:cNvPr id="4" name="Picture 3"/>
          <p:cNvPicPr>
            <a:picLocks noChangeAspect="1"/>
          </p:cNvPicPr>
          <p:nvPr/>
        </p:nvPicPr>
        <p:blipFill>
          <a:blip r:embed="rId2"/>
          <a:stretch>
            <a:fillRect/>
          </a:stretch>
        </p:blipFill>
        <p:spPr>
          <a:xfrm>
            <a:off x="1175045" y="3627680"/>
            <a:ext cx="9243963" cy="1349391"/>
          </a:xfrm>
          <a:prstGeom prst="rect">
            <a:avLst/>
          </a:prstGeom>
        </p:spPr>
      </p:pic>
    </p:spTree>
    <p:extLst>
      <p:ext uri="{BB962C8B-B14F-4D97-AF65-F5344CB8AC3E}">
        <p14:creationId xmlns:p14="http://schemas.microsoft.com/office/powerpoint/2010/main" val="898167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Advantage of Exception Handling</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Exception handling </a:t>
            </a:r>
            <a:r>
              <a:rPr lang="en-US" sz="2400" b="1" dirty="0">
                <a:solidFill>
                  <a:srgbClr val="C00000"/>
                </a:solidFill>
                <a:latin typeface="Times New Roman" panose="02020603050405020304" pitchFamily="18" charset="0"/>
                <a:cs typeface="Times New Roman" panose="02020603050405020304" pitchFamily="18" charset="0"/>
              </a:rPr>
              <a:t>ensures that the flow of the program </a:t>
            </a:r>
            <a:r>
              <a:rPr lang="en-US" sz="2400" dirty="0">
                <a:latin typeface="Times New Roman" panose="02020603050405020304" pitchFamily="18" charset="0"/>
                <a:cs typeface="Times New Roman" panose="02020603050405020304" pitchFamily="18" charset="0"/>
              </a:rPr>
              <a:t>doesn’t break when an exception occurs. </a:t>
            </a:r>
          </a:p>
          <a:p>
            <a:r>
              <a:rPr lang="en-US" sz="2400" dirty="0">
                <a:latin typeface="Times New Roman" panose="02020603050405020304" pitchFamily="18" charset="0"/>
                <a:cs typeface="Times New Roman" panose="02020603050405020304" pitchFamily="18" charset="0"/>
              </a:rPr>
              <a:t>For example:  if a program has bunch of statements and an exception occurs mid way after executing certain statements then the statements after the exception will not execute and the program will terminate abruptly.</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155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Types of Exceptions</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sz="2400" dirty="0">
                <a:latin typeface="Times New Roman" panose="02020603050405020304" pitchFamily="18" charset="0"/>
                <a:cs typeface="Times New Roman" panose="02020603050405020304" pitchFamily="18" charset="0"/>
              </a:rPr>
              <a:t>There are two types of exceptions in Java: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1)Checked exceptions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2)Unchecked exceptions</a:t>
            </a:r>
          </a:p>
          <a:p>
            <a:pPr marL="0" indent="0">
              <a:buNone/>
            </a:pPr>
            <a:r>
              <a:rPr lang="en-US" sz="3600" b="1" dirty="0">
                <a:solidFill>
                  <a:srgbClr val="A20000"/>
                </a:solidFill>
                <a:latin typeface="Times New Roman" panose="02020603050405020304" pitchFamily="18" charset="0"/>
                <a:cs typeface="Times New Roman" panose="02020603050405020304" pitchFamily="18" charset="0"/>
              </a:rPr>
              <a:t>1:Checked Exceptions (Depends on Outer Resources)</a:t>
            </a:r>
          </a:p>
          <a:p>
            <a:pPr marL="0" indent="0">
              <a:buNone/>
            </a:pPr>
            <a:r>
              <a:rPr lang="en-US" sz="2400" dirty="0">
                <a:latin typeface="Times New Roman" panose="02020603050405020304" pitchFamily="18" charset="0"/>
                <a:cs typeface="Times New Roman" panose="02020603050405020304" pitchFamily="18" charset="0"/>
              </a:rPr>
              <a:t>All exceptions other than Runtime Exceptions are known as Checked exceptions as the compiler checks them during compilation to see whether the programmer has handled them or not. If these exceptions are not handled/declared in the program, you will get compilation error. </a:t>
            </a:r>
          </a:p>
          <a:p>
            <a:pPr marL="0" indent="0">
              <a:buNone/>
            </a:pPr>
            <a:r>
              <a:rPr lang="en-US" sz="2400" dirty="0">
                <a:latin typeface="Times New Roman" panose="02020603050405020304" pitchFamily="18" charset="0"/>
                <a:cs typeface="Times New Roman" panose="02020603050405020304" pitchFamily="18" charset="0"/>
              </a:rPr>
              <a:t>For example:</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dirty="0" err="1">
                <a:solidFill>
                  <a:srgbClr val="C00000"/>
                </a:solidFill>
                <a:latin typeface="Times New Roman" panose="02020603050405020304" pitchFamily="18" charset="0"/>
                <a:cs typeface="Times New Roman" panose="02020603050405020304" pitchFamily="18" charset="0"/>
              </a:rPr>
              <a:t>SQLException</a:t>
            </a:r>
            <a:endParaRPr lang="en-US" sz="2400" dirty="0">
              <a:solidFill>
                <a:srgbClr val="C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solidFill>
                  <a:srgbClr val="C00000"/>
                </a:solidFill>
                <a:latin typeface="Times New Roman" panose="02020603050405020304" pitchFamily="18" charset="0"/>
                <a:cs typeface="Times New Roman" panose="02020603050405020304" pitchFamily="18" charset="0"/>
              </a:rPr>
              <a:t> </a:t>
            </a:r>
            <a:r>
              <a:rPr lang="en-US" sz="2400" dirty="0" err="1">
                <a:solidFill>
                  <a:srgbClr val="C00000"/>
                </a:solidFill>
                <a:latin typeface="Times New Roman" panose="02020603050405020304" pitchFamily="18" charset="0"/>
                <a:cs typeface="Times New Roman" panose="02020603050405020304" pitchFamily="18" charset="0"/>
              </a:rPr>
              <a:t>IOException</a:t>
            </a:r>
            <a:r>
              <a:rPr lang="en-US" sz="2400" dirty="0">
                <a:solidFill>
                  <a:srgbClr val="C00000"/>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US" sz="2400" dirty="0" err="1">
                <a:solidFill>
                  <a:srgbClr val="C00000"/>
                </a:solidFill>
                <a:latin typeface="Times New Roman" panose="02020603050405020304" pitchFamily="18" charset="0"/>
                <a:cs typeface="Times New Roman" panose="02020603050405020304" pitchFamily="18" charset="0"/>
              </a:rPr>
              <a:t>ClassNotFoundException</a:t>
            </a:r>
            <a:r>
              <a:rPr lang="en-US" sz="2400" dirty="0">
                <a:solidFill>
                  <a:srgbClr val="C00000"/>
                </a:solidFill>
                <a:latin typeface="Times New Roman" panose="02020603050405020304" pitchFamily="18" charset="0"/>
                <a:cs typeface="Times New Roman" panose="02020603050405020304" pitchFamily="18" charset="0"/>
              </a:rPr>
              <a:t> etc.</a:t>
            </a:r>
          </a:p>
          <a:p>
            <a:endParaRPr lang="en-US" dirty="0"/>
          </a:p>
        </p:txBody>
      </p:sp>
    </p:spTree>
    <p:extLst>
      <p:ext uri="{BB962C8B-B14F-4D97-AF65-F5344CB8AC3E}">
        <p14:creationId xmlns:p14="http://schemas.microsoft.com/office/powerpoint/2010/main" val="153910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Unchecked Exceptions</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Runtime Exceptions are also known as Unchecked Exceptions. These exceptions are not checked at compile-time so compiler does not check whether the programmer has handled them or not but it’s the responsibility of the programmer to handle these exceptions and provide a safe exit. </a:t>
            </a:r>
          </a:p>
          <a:p>
            <a:pPr marL="0" indent="0">
              <a:buNone/>
            </a:pPr>
            <a:r>
              <a:rPr lang="en-US" sz="2400" dirty="0">
                <a:latin typeface="Times New Roman" panose="02020603050405020304" pitchFamily="18" charset="0"/>
                <a:cs typeface="Times New Roman" panose="02020603050405020304" pitchFamily="18" charset="0"/>
              </a:rPr>
              <a:t>For example:</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dirty="0" err="1">
                <a:solidFill>
                  <a:srgbClr val="C00000"/>
                </a:solidFill>
                <a:latin typeface="Times New Roman" panose="02020603050405020304" pitchFamily="18" charset="0"/>
                <a:cs typeface="Times New Roman" panose="02020603050405020304" pitchFamily="18" charset="0"/>
              </a:rPr>
              <a:t>ArithmeticException</a:t>
            </a:r>
            <a:endParaRPr lang="en-US" sz="2400" dirty="0">
              <a:solidFill>
                <a:srgbClr val="C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err="1">
                <a:solidFill>
                  <a:srgbClr val="C00000"/>
                </a:solidFill>
                <a:latin typeface="Times New Roman" panose="02020603050405020304" pitchFamily="18" charset="0"/>
                <a:cs typeface="Times New Roman" panose="02020603050405020304" pitchFamily="18" charset="0"/>
              </a:rPr>
              <a:t>NullPointerException</a:t>
            </a:r>
            <a:endParaRPr lang="en-US" sz="2400" dirty="0">
              <a:solidFill>
                <a:srgbClr val="C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err="1">
                <a:solidFill>
                  <a:srgbClr val="C00000"/>
                </a:solidFill>
                <a:latin typeface="Times New Roman" panose="02020603050405020304" pitchFamily="18" charset="0"/>
                <a:cs typeface="Times New Roman" panose="02020603050405020304" pitchFamily="18" charset="0"/>
              </a:rPr>
              <a:t>ArrayIndexOutOfBoundsException</a:t>
            </a:r>
            <a:endParaRPr lang="en-US" sz="24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4167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Try block</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lnSpc>
                <a:spcPct val="80000"/>
              </a:lnSpc>
              <a:buNone/>
            </a:pPr>
            <a:r>
              <a:rPr lang="en-US" sz="2400" dirty="0">
                <a:latin typeface="Times New Roman" panose="02020603050405020304" pitchFamily="18" charset="0"/>
                <a:cs typeface="Times New Roman" panose="02020603050405020304" pitchFamily="18" charset="0"/>
              </a:rPr>
              <a:t>The try block contains set of statements where an exception can occur. A try block is always followed by a catch block, which handles the exception that occurs in associated try block. A try block must be followed by catch blocks or finally block or both.</a:t>
            </a:r>
          </a:p>
          <a:p>
            <a:pPr algn="just">
              <a:lnSpc>
                <a:spcPct val="80000"/>
              </a:lnSpc>
            </a:pP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114534" y="3406445"/>
            <a:ext cx="9768114" cy="2905455"/>
          </a:xfrm>
          <a:prstGeom prst="rect">
            <a:avLst/>
          </a:prstGeom>
        </p:spPr>
      </p:pic>
    </p:spTree>
    <p:extLst>
      <p:ext uri="{BB962C8B-B14F-4D97-AF65-F5344CB8AC3E}">
        <p14:creationId xmlns:p14="http://schemas.microsoft.com/office/powerpoint/2010/main" val="1309907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Catch Block</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A catch block is where you handle the exceptions, this block must follow the try block. A single try block can have several catch blocks associated with it. You can catch different exceptions in different catch blocks. When an exception occurs in try block, the corresponding catch block that handles that particular exception executes. For example if an arithmetic exception occurs in try block then the statements enclosed in catch block for arithmetic exception executes.</a:t>
            </a:r>
          </a:p>
        </p:txBody>
      </p:sp>
    </p:spTree>
    <p:extLst>
      <p:ext uri="{BB962C8B-B14F-4D97-AF65-F5344CB8AC3E}">
        <p14:creationId xmlns:p14="http://schemas.microsoft.com/office/powerpoint/2010/main" val="2717535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Syntax of “try – catch” in java</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pic>
        <p:nvPicPr>
          <p:cNvPr id="4" name="Content Placeholder 3"/>
          <p:cNvPicPr>
            <a:picLocks noGrp="1" noChangeAspect="1"/>
          </p:cNvPicPr>
          <p:nvPr>
            <p:ph idx="1"/>
          </p:nvPr>
        </p:nvPicPr>
        <p:blipFill>
          <a:blip r:embed="rId3"/>
          <a:stretch>
            <a:fillRect/>
          </a:stretch>
        </p:blipFill>
        <p:spPr>
          <a:xfrm>
            <a:off x="959457" y="1690688"/>
            <a:ext cx="9499895" cy="4555565"/>
          </a:xfrm>
          <a:prstGeom prst="rect">
            <a:avLst/>
          </a:prstGeom>
        </p:spPr>
      </p:pic>
    </p:spTree>
    <p:extLst>
      <p:ext uri="{BB962C8B-B14F-4D97-AF65-F5344CB8AC3E}">
        <p14:creationId xmlns:p14="http://schemas.microsoft.com/office/powerpoint/2010/main" val="3083320562"/>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593503" y="178428"/>
            <a:ext cx="10515600" cy="646330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class Example1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 public static void main(String </a:t>
            </a:r>
            <a:r>
              <a:rPr kumimoji="0" lang="en-US" altLang="en-US" sz="1600" b="1" i="0" u="none" strike="noStrike" cap="none" normalizeH="0" baseline="0" dirty="0" err="1">
                <a:ln>
                  <a:noFill/>
                </a:ln>
                <a:effectLst/>
                <a:latin typeface="Courier New" panose="02070309020205020404" pitchFamily="49" charset="0"/>
                <a:cs typeface="Courier New" panose="02070309020205020404" pitchFamily="49" charset="0"/>
              </a:rPr>
              <a:t>args</a:t>
            </a: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a:t>
            </a:r>
            <a:r>
              <a:rPr kumimoji="0" lang="en-US" altLang="en-US" sz="1600" b="1" i="0" u="none" strike="noStrike" cap="none" normalizeH="0" baseline="0" dirty="0" err="1">
                <a:ln>
                  <a:noFill/>
                </a:ln>
                <a:effectLst/>
                <a:latin typeface="Courier New" panose="02070309020205020404" pitchFamily="49" charset="0"/>
                <a:cs typeface="Courier New" panose="02070309020205020404" pitchFamily="49" charset="0"/>
              </a:rPr>
              <a:t>int</a:t>
            </a: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num1, num2;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try {   </a:t>
            </a:r>
            <a:endParaRPr lang="en-US" altLang="en-US" sz="1600" b="1"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num1 = 0; num2 = 62 / num1;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b="1"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effectLst/>
                <a:latin typeface="Courier New" panose="02070309020205020404" pitchFamily="49" charset="0"/>
                <a:cs typeface="Courier New" panose="02070309020205020404" pitchFamily="49" charset="0"/>
              </a:rPr>
              <a:t>System.out.println</a:t>
            </a: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(num2);</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b="1"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a:t>
            </a:r>
            <a:r>
              <a:rPr kumimoji="0" lang="en-US" altLang="en-US" sz="1600" b="1" i="0" u="none" strike="noStrike" cap="none" normalizeH="0" baseline="0" dirty="0" err="1">
                <a:ln>
                  <a:noFill/>
                </a:ln>
                <a:effectLst/>
                <a:latin typeface="Courier New" panose="02070309020205020404" pitchFamily="49" charset="0"/>
                <a:cs typeface="Courier New" panose="02070309020205020404" pitchFamily="49" charset="0"/>
              </a:rPr>
              <a:t>System.out.println</a:t>
            </a: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("Hey I'm at the end of try block");</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latin typeface="Courier New" panose="02070309020205020404" pitchFamily="49" charset="0"/>
                <a:cs typeface="Courier New" panose="02070309020205020404" pitchFamily="49" charset="0"/>
              </a:rPr>
              <a:t>   </a:t>
            </a: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catch (</a:t>
            </a:r>
            <a:r>
              <a:rPr kumimoji="0" lang="en-US" altLang="en-US" sz="1600" b="1" i="0" u="none" strike="noStrike" cap="none" normalizeH="0" baseline="0" dirty="0" err="1">
                <a:ln>
                  <a:noFill/>
                </a:ln>
                <a:effectLst/>
                <a:latin typeface="Courier New" panose="02070309020205020404" pitchFamily="49" charset="0"/>
                <a:cs typeface="Courier New" panose="02070309020205020404" pitchFamily="49" charset="0"/>
              </a:rPr>
              <a:t>ArithmeticException</a:t>
            </a: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  /* This block will only execute if any Arithmetic exception * occurs in try block */</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600" b="1"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a:t>
            </a:r>
            <a:r>
              <a:rPr kumimoji="0" lang="en-US" altLang="en-US" sz="1600" b="1" i="0" u="none" strike="noStrike" cap="none" normalizeH="0" baseline="0" dirty="0" err="1">
                <a:ln>
                  <a:noFill/>
                </a:ln>
                <a:effectLst/>
                <a:latin typeface="Courier New" panose="02070309020205020404" pitchFamily="49" charset="0"/>
                <a:cs typeface="Courier New" panose="02070309020205020404" pitchFamily="49" charset="0"/>
              </a:rPr>
              <a:t>System.out.println</a:t>
            </a: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("You should not divide a number by zero");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600" b="1"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catch (Exception 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 /* This is a generic Exception handler which means it can handle * all the exceptions.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This will execute if the exception is not * handled by previous catch blocks.</a:t>
            </a:r>
            <a:r>
              <a:rPr kumimoji="0" lang="en-US" altLang="en-US" sz="1600" b="1" i="0" u="none" strike="noStrike" cap="none" normalizeH="0" baseline="0" dirty="0">
                <a:ln>
                  <a:noFill/>
                </a:ln>
                <a:effectLst/>
              </a:rPr>
              <a:t> </a:t>
            </a:r>
          </a:p>
          <a:p>
            <a:pPr marL="0" indent="0" eaLnBrk="0" fontAlgn="base" hangingPunct="0">
              <a:lnSpc>
                <a:spcPct val="100000"/>
              </a:lnSpc>
              <a:spcBef>
                <a:spcPct val="0"/>
              </a:spcBef>
              <a:spcAft>
                <a:spcPct val="0"/>
              </a:spcAft>
              <a:buNone/>
            </a:pPr>
            <a:r>
              <a:rPr lang="en-US" altLang="en-US" sz="1600" b="1" dirty="0" err="1">
                <a:latin typeface="Courier New" panose="02070309020205020404" pitchFamily="49" charset="0"/>
                <a:cs typeface="Courier New" panose="02070309020205020404" pitchFamily="49" charset="0"/>
              </a:rPr>
              <a:t>System.out.println</a:t>
            </a:r>
            <a:r>
              <a:rPr lang="en-US" altLang="en-US" sz="1600" b="1" dirty="0">
                <a:latin typeface="Courier New" panose="02070309020205020404" pitchFamily="49" charset="0"/>
                <a:cs typeface="Courier New" panose="02070309020205020404" pitchFamily="49" charset="0"/>
              </a:rPr>
              <a:t>("Exception occurred"); } </a:t>
            </a:r>
          </a:p>
          <a:p>
            <a:pPr marL="0" indent="0" eaLnBrk="0" fontAlgn="base" hangingPunct="0">
              <a:lnSpc>
                <a:spcPct val="100000"/>
              </a:lnSpc>
              <a:spcBef>
                <a:spcPct val="0"/>
              </a:spcBef>
              <a:spcAft>
                <a:spcPct val="0"/>
              </a:spcAft>
              <a:buNone/>
            </a:pPr>
            <a:r>
              <a:rPr lang="en-US" altLang="en-US" sz="1600" b="1" dirty="0" err="1">
                <a:latin typeface="Courier New" panose="02070309020205020404" pitchFamily="49" charset="0"/>
                <a:cs typeface="Courier New" panose="02070309020205020404" pitchFamily="49" charset="0"/>
              </a:rPr>
              <a:t>System.out.println</a:t>
            </a:r>
            <a:r>
              <a:rPr lang="en-US" altLang="en-US" sz="1600" b="1" dirty="0">
                <a:latin typeface="Courier New" panose="02070309020205020404" pitchFamily="49" charset="0"/>
                <a:cs typeface="Courier New" panose="02070309020205020404" pitchFamily="49" charset="0"/>
              </a:rPr>
              <a:t>("I'm out of try-catch block in Java.");</a:t>
            </a:r>
          </a:p>
          <a:p>
            <a:pPr marL="0" indent="0" eaLnBrk="0" fontAlgn="base" hangingPunct="0">
              <a:lnSpc>
                <a:spcPct val="100000"/>
              </a:lnSpc>
              <a:spcBef>
                <a:spcPct val="0"/>
              </a:spcBef>
              <a:spcAft>
                <a:spcPct val="0"/>
              </a:spcAft>
              <a:buNone/>
            </a:pPr>
            <a:r>
              <a:rPr lang="en-US" altLang="en-US" sz="1600" b="1" dirty="0">
                <a:latin typeface="Courier New" panose="02070309020205020404" pitchFamily="49" charset="0"/>
                <a:cs typeface="Courier New" panose="02070309020205020404" pitchFamily="49" charset="0"/>
              </a:rPr>
              <a:t> } </a:t>
            </a:r>
          </a:p>
          <a:p>
            <a:pPr marL="0" indent="0" eaLnBrk="0" fontAlgn="base" hangingPunct="0">
              <a:lnSpc>
                <a:spcPct val="100000"/>
              </a:lnSpc>
              <a:spcBef>
                <a:spcPct val="0"/>
              </a:spcBef>
              <a:spcAft>
                <a:spcPct val="0"/>
              </a:spcAft>
              <a:buNone/>
            </a:pPr>
            <a:r>
              <a:rPr lang="en-US" altLang="en-US" sz="1600" b="1" dirty="0">
                <a:latin typeface="Courier New" panose="02070309020205020404" pitchFamily="49" charset="0"/>
                <a:cs typeface="Courier New" panose="02070309020205020404" pitchFamily="49" charset="0"/>
              </a:rPr>
              <a:t>}</a:t>
            </a:r>
            <a:r>
              <a:rPr lang="en-US" altLang="en-US" sz="1600" b="1" dirty="0"/>
              <a:t> </a:t>
            </a:r>
            <a:endParaRPr lang="en-US" altLang="en-US" b="1"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lang="en-US" altLang="en-US" sz="1400" dirty="0">
              <a:latin typeface="Arial" panose="020B0604020202020204" pitchFamily="34" charset="0"/>
            </a:endParaRPr>
          </a:p>
        </p:txBody>
      </p:sp>
    </p:spTree>
    <p:extLst>
      <p:ext uri="{BB962C8B-B14F-4D97-AF65-F5344CB8AC3E}">
        <p14:creationId xmlns:p14="http://schemas.microsoft.com/office/powerpoint/2010/main" val="623913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Multiple “catch” blocks in Java</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457200" indent="-457200" algn="just">
              <a:buAutoNum type="arabicPeriod"/>
            </a:pPr>
            <a:r>
              <a:rPr lang="en-US" sz="2400" dirty="0">
                <a:latin typeface="Times New Roman" panose="02020603050405020304" pitchFamily="18" charset="0"/>
                <a:cs typeface="Times New Roman" panose="02020603050405020304" pitchFamily="18" charset="0"/>
              </a:rPr>
              <a:t>A single try block can have any number of catch blocks.</a:t>
            </a:r>
          </a:p>
          <a:p>
            <a:pPr marL="457200" indent="-457200" algn="just">
              <a:buAutoNum type="arabicPeriod"/>
            </a:pPr>
            <a:r>
              <a:rPr lang="en-US" sz="2400" dirty="0">
                <a:latin typeface="Times New Roman" panose="02020603050405020304" pitchFamily="18" charset="0"/>
                <a:cs typeface="Times New Roman" panose="02020603050405020304" pitchFamily="18" charset="0"/>
              </a:rPr>
              <a:t> A generic </a:t>
            </a:r>
            <a:r>
              <a:rPr lang="en-US" sz="2400" b="1" dirty="0">
                <a:solidFill>
                  <a:srgbClr val="C00000"/>
                </a:solidFill>
                <a:latin typeface="Times New Roman" panose="02020603050405020304" pitchFamily="18" charset="0"/>
                <a:cs typeface="Times New Roman" panose="02020603050405020304" pitchFamily="18" charset="0"/>
              </a:rPr>
              <a:t>catch</a:t>
            </a:r>
            <a:r>
              <a:rPr lang="en-US" sz="2400" dirty="0">
                <a:latin typeface="Times New Roman" panose="02020603050405020304" pitchFamily="18" charset="0"/>
                <a:cs typeface="Times New Roman" panose="02020603050405020304" pitchFamily="18" charset="0"/>
              </a:rPr>
              <a:t> block can handle all the exceptions. Whether it is </a:t>
            </a:r>
            <a:r>
              <a:rPr lang="en-US" sz="2400" dirty="0" err="1">
                <a:solidFill>
                  <a:srgbClr val="C00000"/>
                </a:solidFill>
                <a:latin typeface="Times New Roman" panose="02020603050405020304" pitchFamily="18" charset="0"/>
                <a:cs typeface="Times New Roman" panose="02020603050405020304" pitchFamily="18" charset="0"/>
              </a:rPr>
              <a:t>ArrayIndexOutOfBoundsException</a:t>
            </a:r>
            <a:r>
              <a:rPr lang="en-US" sz="2400" dirty="0">
                <a:solidFill>
                  <a:srgbClr val="C00000"/>
                </a:solidFill>
                <a:latin typeface="Times New Roman" panose="02020603050405020304" pitchFamily="18" charset="0"/>
                <a:cs typeface="Times New Roman" panose="02020603050405020304" pitchFamily="18" charset="0"/>
              </a:rPr>
              <a:t> OR </a:t>
            </a:r>
            <a:r>
              <a:rPr lang="en-US" sz="2400" dirty="0" err="1">
                <a:solidFill>
                  <a:srgbClr val="C00000"/>
                </a:solidFill>
                <a:latin typeface="Times New Roman" panose="02020603050405020304" pitchFamily="18" charset="0"/>
                <a:cs typeface="Times New Roman" panose="02020603050405020304" pitchFamily="18" charset="0"/>
              </a:rPr>
              <a:t>ArithmeticException</a:t>
            </a:r>
            <a:r>
              <a:rPr lang="en-US" sz="2400" dirty="0">
                <a:latin typeface="Times New Roman" panose="02020603050405020304" pitchFamily="18" charset="0"/>
                <a:cs typeface="Times New Roman" panose="02020603050405020304" pitchFamily="18" charset="0"/>
              </a:rPr>
              <a:t> </a:t>
            </a:r>
            <a:r>
              <a:rPr lang="en-US" sz="2400" dirty="0">
                <a:solidFill>
                  <a:srgbClr val="C00000"/>
                </a:solidFill>
                <a:latin typeface="Times New Roman" panose="02020603050405020304" pitchFamily="18" charset="0"/>
                <a:cs typeface="Times New Roman" panose="02020603050405020304" pitchFamily="18" charset="0"/>
              </a:rPr>
              <a:t>OR</a:t>
            </a:r>
            <a:r>
              <a:rPr lang="en-US" sz="2400" dirty="0">
                <a:latin typeface="Times New Roman" panose="02020603050405020304" pitchFamily="18" charset="0"/>
                <a:cs typeface="Times New Roman" panose="02020603050405020304" pitchFamily="18" charset="0"/>
              </a:rPr>
              <a:t> </a:t>
            </a:r>
            <a:r>
              <a:rPr lang="en-US" sz="2400" dirty="0" err="1">
                <a:solidFill>
                  <a:srgbClr val="C00000"/>
                </a:solidFill>
                <a:latin typeface="Times New Roman" panose="02020603050405020304" pitchFamily="18" charset="0"/>
                <a:cs typeface="Times New Roman" panose="02020603050405020304" pitchFamily="18" charset="0"/>
              </a:rPr>
              <a:t>NullPointerException</a:t>
            </a:r>
            <a:r>
              <a:rPr lang="en-US" sz="2400" dirty="0">
                <a:latin typeface="Times New Roman" panose="02020603050405020304" pitchFamily="18" charset="0"/>
                <a:cs typeface="Times New Roman" panose="02020603050405020304" pitchFamily="18" charset="0"/>
              </a:rPr>
              <a:t> </a:t>
            </a:r>
            <a:r>
              <a:rPr lang="en-US" sz="2400" dirty="0">
                <a:solidFill>
                  <a:srgbClr val="C00000"/>
                </a:solidFill>
                <a:latin typeface="Times New Roman" panose="02020603050405020304" pitchFamily="18" charset="0"/>
                <a:cs typeface="Times New Roman" panose="02020603050405020304" pitchFamily="18" charset="0"/>
              </a:rPr>
              <a:t>OR</a:t>
            </a:r>
            <a:r>
              <a:rPr lang="en-US" sz="2400" dirty="0">
                <a:latin typeface="Times New Roman" panose="02020603050405020304" pitchFamily="18" charset="0"/>
                <a:cs typeface="Times New Roman" panose="02020603050405020304" pitchFamily="18" charset="0"/>
              </a:rPr>
              <a:t> any other type of exception. </a:t>
            </a:r>
          </a:p>
          <a:p>
            <a:pPr marL="457200" indent="-457200" algn="just">
              <a:buAutoNum type="arabicPeriod" startAt="3"/>
            </a:pPr>
            <a:r>
              <a:rPr lang="en-US" sz="2400" dirty="0">
                <a:latin typeface="Times New Roman" panose="02020603050405020304" pitchFamily="18" charset="0"/>
                <a:cs typeface="Times New Roman" panose="02020603050405020304" pitchFamily="18" charset="0"/>
              </a:rPr>
              <a:t>If no exception occurs in try block then the catch blocks are completely ignored.</a:t>
            </a:r>
          </a:p>
          <a:p>
            <a:pPr marL="457200" indent="-457200" algn="just">
              <a:buAutoNum type="arabicPeriod" startAt="3"/>
            </a:pPr>
            <a:r>
              <a:rPr lang="en-US" sz="2400" dirty="0">
                <a:latin typeface="Times New Roman" panose="02020603050405020304" pitchFamily="18" charset="0"/>
                <a:cs typeface="Times New Roman" panose="02020603050405020304" pitchFamily="18" charset="0"/>
              </a:rPr>
              <a:t>Corresponding catch blocks execute for that specific type of exception:</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catch(</a:t>
            </a:r>
            <a:r>
              <a:rPr lang="en-US" sz="2400" dirty="0" err="1">
                <a:latin typeface="Times New Roman" panose="02020603050405020304" pitchFamily="18" charset="0"/>
                <a:cs typeface="Times New Roman" panose="02020603050405020304" pitchFamily="18" charset="0"/>
              </a:rPr>
              <a:t>ArithmeticException</a:t>
            </a:r>
            <a:r>
              <a:rPr lang="en-US" sz="2400" dirty="0">
                <a:latin typeface="Times New Roman" panose="02020603050405020304" pitchFamily="18" charset="0"/>
                <a:cs typeface="Times New Roman" panose="02020603050405020304" pitchFamily="18" charset="0"/>
              </a:rPr>
              <a:t> e) is a catch block that can </a:t>
            </a:r>
            <a:r>
              <a:rPr lang="en-US" sz="2400" dirty="0" err="1">
                <a:latin typeface="Times New Roman" panose="02020603050405020304" pitchFamily="18" charset="0"/>
                <a:cs typeface="Times New Roman" panose="02020603050405020304" pitchFamily="18" charset="0"/>
              </a:rPr>
              <a:t>hanlde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ArithmeticException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catch(</a:t>
            </a:r>
            <a:r>
              <a:rPr lang="en-US" sz="2400" dirty="0" err="1">
                <a:latin typeface="Times New Roman" panose="02020603050405020304" pitchFamily="18" charset="0"/>
                <a:cs typeface="Times New Roman" panose="02020603050405020304" pitchFamily="18" charset="0"/>
              </a:rPr>
              <a:t>NullPointerException</a:t>
            </a:r>
            <a:r>
              <a:rPr lang="en-US" sz="2400" dirty="0">
                <a:latin typeface="Times New Roman" panose="02020603050405020304" pitchFamily="18" charset="0"/>
                <a:cs typeface="Times New Roman" panose="02020603050405020304" pitchFamily="18" charset="0"/>
              </a:rPr>
              <a:t> e) is a catch block that can handle </a:t>
            </a:r>
            <a:r>
              <a:rPr lang="en-US" sz="2400" dirty="0" err="1">
                <a:latin typeface="Times New Roman" panose="02020603050405020304" pitchFamily="18" charset="0"/>
                <a:cs typeface="Times New Roman" panose="02020603050405020304" pitchFamily="18" charset="0"/>
              </a:rPr>
              <a:t>NullPointerException</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9065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Example of Multiple catch blocks</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838200" y="1374863"/>
            <a:ext cx="10515600" cy="5335029"/>
          </a:xfrm>
          <a:prstGeom prst="rect">
            <a:avLst/>
          </a:prstGeom>
        </p:spPr>
      </p:pic>
    </p:spTree>
    <p:extLst>
      <p:ext uri="{BB962C8B-B14F-4D97-AF65-F5344CB8AC3E}">
        <p14:creationId xmlns:p14="http://schemas.microsoft.com/office/powerpoint/2010/main" val="3509855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Nested try catch block in Java</a:t>
            </a:r>
            <a:r>
              <a:rPr lang="en-US" b="1" dirty="0"/>
              <a:t> </a:t>
            </a:r>
            <a:br>
              <a:rPr lang="en-US" b="1" dirty="0"/>
            </a:br>
            <a:endParaRPr lang="en-US" dirty="0"/>
          </a:p>
        </p:txBody>
      </p:sp>
      <p:pic>
        <p:nvPicPr>
          <p:cNvPr id="4" name="Content Placeholder 3"/>
          <p:cNvPicPr>
            <a:picLocks noGrp="1" noChangeAspect="1"/>
          </p:cNvPicPr>
          <p:nvPr>
            <p:ph idx="1"/>
          </p:nvPr>
        </p:nvPicPr>
        <p:blipFill>
          <a:blip r:embed="rId2"/>
          <a:stretch>
            <a:fillRect/>
          </a:stretch>
        </p:blipFill>
        <p:spPr>
          <a:xfrm>
            <a:off x="838199" y="1207438"/>
            <a:ext cx="8885349" cy="5373665"/>
          </a:xfrm>
          <a:prstGeom prst="rect">
            <a:avLst/>
          </a:prstGeom>
        </p:spPr>
      </p:pic>
    </p:spTree>
    <p:extLst>
      <p:ext uri="{BB962C8B-B14F-4D97-AF65-F5344CB8AC3E}">
        <p14:creationId xmlns:p14="http://schemas.microsoft.com/office/powerpoint/2010/main" val="2773350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finally block – Exception Handling</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finally block</a:t>
            </a:r>
            <a:r>
              <a:rPr lang="en-US" sz="2400" dirty="0">
                <a:latin typeface="Times New Roman" panose="02020603050405020304" pitchFamily="18" charset="0"/>
                <a:cs typeface="Times New Roman" panose="02020603050405020304" pitchFamily="18" charset="0"/>
              </a:rPr>
              <a:t> contains all the crucial statements that must be executed whether exception occurs or not. The statements present in this block will always execute regardless of whether exception occurs in try block or not such as closing a connection, stream </a:t>
            </a:r>
            <a:r>
              <a:rPr lang="en-US" sz="2400" dirty="0" err="1">
                <a:latin typeface="Times New Roman" panose="02020603050405020304" pitchFamily="18" charset="0"/>
                <a:cs typeface="Times New Roman" panose="02020603050405020304" pitchFamily="18" charset="0"/>
              </a:rPr>
              <a:t>etc</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7312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Syntax of finally Block</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838200" y="1490500"/>
            <a:ext cx="8460346" cy="4382266"/>
          </a:xfrm>
          <a:prstGeom prst="rect">
            <a:avLst/>
          </a:prstGeom>
        </p:spPr>
      </p:pic>
    </p:spTree>
    <p:extLst>
      <p:ext uri="{BB962C8B-B14F-4D97-AF65-F5344CB8AC3E}">
        <p14:creationId xmlns:p14="http://schemas.microsoft.com/office/powerpoint/2010/main" val="1606495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Example of finally Block</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838199" y="1027906"/>
            <a:ext cx="8705045" cy="5549318"/>
          </a:xfrm>
          <a:prstGeom prst="rect">
            <a:avLst/>
          </a:prstGeom>
        </p:spPr>
      </p:pic>
    </p:spTree>
    <p:extLst>
      <p:ext uri="{BB962C8B-B14F-4D97-AF65-F5344CB8AC3E}">
        <p14:creationId xmlns:p14="http://schemas.microsoft.com/office/powerpoint/2010/main" val="2892901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49215"/>
            <a:ext cx="10515600" cy="1325563"/>
          </a:xfrm>
        </p:spPr>
        <p:txBody>
          <a:bodyPr>
            <a:normAutofit fontScale="90000"/>
          </a:bodyPr>
          <a:lstStyle/>
          <a:p>
            <a:br>
              <a:rPr lang="en-US" sz="3600" b="1" dirty="0">
                <a:solidFill>
                  <a:srgbClr val="A20000"/>
                </a:solidFill>
                <a:latin typeface="Times New Roman" panose="02020603050405020304" pitchFamily="18" charset="0"/>
                <a:ea typeface="+mn-ea"/>
                <a:cs typeface="Times New Roman" panose="02020603050405020304" pitchFamily="18" charset="0"/>
              </a:rPr>
            </a:br>
            <a:r>
              <a:rPr lang="en-US" sz="3600" b="1" dirty="0">
                <a:solidFill>
                  <a:srgbClr val="A20000"/>
                </a:solidFill>
                <a:latin typeface="Times New Roman" panose="02020603050405020304" pitchFamily="18" charset="0"/>
                <a:ea typeface="+mn-ea"/>
                <a:cs typeface="Times New Roman" panose="02020603050405020304" pitchFamily="18" charset="0"/>
              </a:rPr>
              <a:t>The “try-with-resources” statement </a:t>
            </a:r>
            <a:br>
              <a:rPr lang="en-US" sz="3600" b="1" dirty="0">
                <a:solidFill>
                  <a:srgbClr val="A20000"/>
                </a:solidFill>
                <a:latin typeface="Times New Roman" panose="02020603050405020304" pitchFamily="18" charset="0"/>
                <a:ea typeface="+mn-ea"/>
                <a:cs typeface="Times New Roman" panose="02020603050405020304" pitchFamily="18" charset="0"/>
              </a:rPr>
            </a:br>
            <a:r>
              <a:rPr lang="en-US" sz="3600" b="1" dirty="0">
                <a:solidFill>
                  <a:srgbClr val="A20000"/>
                </a:solidFill>
                <a:latin typeface="Times New Roman" panose="02020603050405020304" pitchFamily="18" charset="0"/>
                <a:ea typeface="+mn-ea"/>
                <a:cs typeface="Times New Roman" panose="02020603050405020304" pitchFamily="18" charset="0"/>
              </a:rPr>
              <a:t>Interview Question </a:t>
            </a:r>
            <a:r>
              <a:rPr lang="en-US" sz="3600" b="1" dirty="0">
                <a:solidFill>
                  <a:srgbClr val="A20000"/>
                </a:solidFill>
                <a:latin typeface="Times New Roman" panose="02020603050405020304" pitchFamily="18" charset="0"/>
                <a:cs typeface="Times New Roman" panose="02020603050405020304" pitchFamily="18" charset="0"/>
              </a:rPr>
              <a:t>(8 LPA) </a:t>
            </a:r>
            <a:br>
              <a:rPr lang="en-US" sz="3600" b="1" dirty="0">
                <a:solidFill>
                  <a:srgbClr val="A20000"/>
                </a:solidFill>
                <a:latin typeface="Times New Roman" panose="02020603050405020304" pitchFamily="18" charset="0"/>
                <a:cs typeface="Times New Roman" panose="02020603050405020304" pitchFamily="18" charset="0"/>
              </a:rPr>
            </a:br>
            <a:r>
              <a:rPr lang="en-US" sz="3600" b="1" dirty="0">
                <a:solidFill>
                  <a:srgbClr val="A20000"/>
                </a:solidFill>
                <a:latin typeface="Times New Roman" panose="02020603050405020304" pitchFamily="18" charset="0"/>
                <a:ea typeface="+mn-ea"/>
                <a:cs typeface="Times New Roman" panose="02020603050405020304" pitchFamily="18" charset="0"/>
              </a:rPr>
              <a:t> </a:t>
            </a:r>
            <a:br>
              <a:rPr lang="en-US" sz="3600" b="1" dirty="0">
                <a:solidFill>
                  <a:srgbClr val="A20000"/>
                </a:solidFill>
                <a:latin typeface="Times New Roman" panose="02020603050405020304" pitchFamily="18" charset="0"/>
                <a:ea typeface="+mn-ea"/>
                <a:cs typeface="Times New Roman" panose="02020603050405020304" pitchFamily="18" charset="0"/>
              </a:rPr>
            </a:br>
            <a:endParaRPr lang="en-US" sz="36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In Java, the try-with-resources statement is a try statement that declares one or more resources. The resource is as an object that must be closed after finishing the program. The try-with-resources statement ensures that each resource is closed at the end of the statement execution.</a:t>
            </a:r>
          </a:p>
          <a:p>
            <a:r>
              <a:rPr lang="en-US" sz="2400" dirty="0">
                <a:latin typeface="Times New Roman" panose="02020603050405020304" pitchFamily="18" charset="0"/>
                <a:cs typeface="Times New Roman" panose="02020603050405020304" pitchFamily="18" charset="0"/>
              </a:rPr>
              <a:t>You can pass any object that implements </a:t>
            </a:r>
            <a:r>
              <a:rPr lang="en-US" sz="2400" dirty="0" err="1">
                <a:latin typeface="Times New Roman" panose="02020603050405020304" pitchFamily="18" charset="0"/>
                <a:cs typeface="Times New Roman" panose="02020603050405020304" pitchFamily="18" charset="0"/>
              </a:rPr>
              <a:t>java.lang.AutoCloseable</a:t>
            </a:r>
            <a:r>
              <a:rPr lang="en-US" sz="2400" dirty="0">
                <a:latin typeface="Times New Roman" panose="02020603050405020304" pitchFamily="18" charset="0"/>
                <a:cs typeface="Times New Roman" panose="02020603050405020304" pitchFamily="18" charset="0"/>
              </a:rPr>
              <a:t>, which includes all objects which implement </a:t>
            </a:r>
            <a:r>
              <a:rPr lang="en-US" sz="2400" dirty="0" err="1">
                <a:latin typeface="Times New Roman" panose="02020603050405020304" pitchFamily="18" charset="0"/>
                <a:cs typeface="Times New Roman" panose="02020603050405020304" pitchFamily="18" charset="0"/>
              </a:rPr>
              <a:t>java.io.Closeable</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The following example writes a string into a file. It uses an instance of </a:t>
            </a:r>
            <a:r>
              <a:rPr lang="en-US" sz="2400" dirty="0" err="1">
                <a:latin typeface="Times New Roman" panose="02020603050405020304" pitchFamily="18" charset="0"/>
                <a:cs typeface="Times New Roman" panose="02020603050405020304" pitchFamily="18" charset="0"/>
              </a:rPr>
              <a:t>FileOutputStream</a:t>
            </a:r>
            <a:r>
              <a:rPr lang="en-US" sz="2400" dirty="0">
                <a:latin typeface="Times New Roman" panose="02020603050405020304" pitchFamily="18" charset="0"/>
                <a:cs typeface="Times New Roman" panose="02020603050405020304" pitchFamily="18" charset="0"/>
              </a:rPr>
              <a:t> to write data into the file. </a:t>
            </a:r>
            <a:r>
              <a:rPr lang="en-US" sz="2400" dirty="0" err="1">
                <a:latin typeface="Times New Roman" panose="02020603050405020304" pitchFamily="18" charset="0"/>
                <a:cs typeface="Times New Roman" panose="02020603050405020304" pitchFamily="18" charset="0"/>
              </a:rPr>
              <a:t>FileOutputStream</a:t>
            </a:r>
            <a:r>
              <a:rPr lang="en-US" sz="2400" dirty="0">
                <a:latin typeface="Times New Roman" panose="02020603050405020304" pitchFamily="18" charset="0"/>
                <a:cs typeface="Times New Roman" panose="02020603050405020304" pitchFamily="18" charset="0"/>
              </a:rPr>
              <a:t> is a resource that must be closed after the program is finished with it. So, in this example, closing of resource is done by itself try.</a:t>
            </a:r>
          </a:p>
          <a:p>
            <a:endParaRPr lang="en-US" dirty="0"/>
          </a:p>
        </p:txBody>
      </p:sp>
    </p:spTree>
    <p:extLst>
      <p:ext uri="{BB962C8B-B14F-4D97-AF65-F5344CB8AC3E}">
        <p14:creationId xmlns:p14="http://schemas.microsoft.com/office/powerpoint/2010/main" val="2137668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Example: (try with resource)</a:t>
            </a:r>
          </a:p>
        </p:txBody>
      </p:sp>
      <p:pic>
        <p:nvPicPr>
          <p:cNvPr id="4" name="Content Placeholder 3"/>
          <p:cNvPicPr>
            <a:picLocks noGrp="1" noChangeAspect="1"/>
          </p:cNvPicPr>
          <p:nvPr>
            <p:ph idx="1"/>
          </p:nvPr>
        </p:nvPicPr>
        <p:blipFill>
          <a:blip r:embed="rId2"/>
          <a:stretch>
            <a:fillRect/>
          </a:stretch>
        </p:blipFill>
        <p:spPr>
          <a:xfrm>
            <a:off x="985811" y="1690687"/>
            <a:ext cx="9819564" cy="4787385"/>
          </a:xfrm>
          <a:prstGeom prst="rect">
            <a:avLst/>
          </a:prstGeom>
        </p:spPr>
      </p:pic>
    </p:spTree>
    <p:extLst>
      <p:ext uri="{BB962C8B-B14F-4D97-AF65-F5344CB8AC3E}">
        <p14:creationId xmlns:p14="http://schemas.microsoft.com/office/powerpoint/2010/main" val="2118837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Java 9: Try With Resource Enhancement</a:t>
            </a:r>
            <a:br>
              <a:rPr lang="en-US" dirty="0"/>
            </a:br>
            <a:endParaRPr lang="en-US" dirty="0"/>
          </a:p>
        </p:txBody>
      </p:sp>
      <p:sp>
        <p:nvSpPr>
          <p:cNvPr id="3" name="Content Placeholder 2"/>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Java introduced </a:t>
            </a:r>
            <a:r>
              <a:rPr lang="en-US" sz="2400" b="1" dirty="0">
                <a:latin typeface="Times New Roman" panose="02020603050405020304" pitchFamily="18" charset="0"/>
                <a:cs typeface="Times New Roman" panose="02020603050405020304" pitchFamily="18" charset="0"/>
              </a:rPr>
              <a:t>try-with-resource</a:t>
            </a:r>
            <a:r>
              <a:rPr lang="en-US" sz="2400" dirty="0">
                <a:latin typeface="Times New Roman" panose="02020603050405020304" pitchFamily="18" charset="0"/>
                <a:cs typeface="Times New Roman" panose="02020603050405020304" pitchFamily="18" charset="0"/>
              </a:rPr>
              <a:t> feature in Java 7 that helps to close resource automatically after being used.</a:t>
            </a:r>
          </a:p>
          <a:p>
            <a:r>
              <a:rPr lang="en-US" sz="2400" dirty="0">
                <a:latin typeface="Times New Roman" panose="02020603050405020304" pitchFamily="18" charset="0"/>
                <a:cs typeface="Times New Roman" panose="02020603050405020304" pitchFamily="18" charset="0"/>
              </a:rPr>
              <a:t>In other words, we can say that we don't need to close resources (file, connection, network </a:t>
            </a:r>
            <a:r>
              <a:rPr lang="en-US" sz="2400" dirty="0" err="1">
                <a:latin typeface="Times New Roman" panose="02020603050405020304" pitchFamily="18" charset="0"/>
                <a:cs typeface="Times New Roman" panose="02020603050405020304" pitchFamily="18" charset="0"/>
              </a:rPr>
              <a:t>etc</a:t>
            </a:r>
            <a:r>
              <a:rPr lang="en-US" sz="2400" dirty="0">
                <a:latin typeface="Times New Roman" panose="02020603050405020304" pitchFamily="18" charset="0"/>
                <a:cs typeface="Times New Roman" panose="02020603050405020304" pitchFamily="18" charset="0"/>
              </a:rPr>
              <a:t>) explicitly, try-with-resource close that automatically by using </a:t>
            </a:r>
            <a:r>
              <a:rPr lang="en-US" sz="2400" dirty="0" err="1">
                <a:latin typeface="Times New Roman" panose="02020603050405020304" pitchFamily="18" charset="0"/>
                <a:cs typeface="Times New Roman" panose="02020603050405020304" pitchFamily="18" charset="0"/>
              </a:rPr>
              <a:t>AutoClosable</a:t>
            </a:r>
            <a:r>
              <a:rPr lang="en-US" sz="2400" dirty="0">
                <a:latin typeface="Times New Roman" panose="02020603050405020304" pitchFamily="18" charset="0"/>
                <a:cs typeface="Times New Roman" panose="02020603050405020304" pitchFamily="18" charset="0"/>
              </a:rPr>
              <a:t> interface.</a:t>
            </a:r>
          </a:p>
          <a:p>
            <a:r>
              <a:rPr lang="en-US" sz="2400" dirty="0">
                <a:latin typeface="Times New Roman" panose="02020603050405020304" pitchFamily="18" charset="0"/>
                <a:cs typeface="Times New Roman" panose="02020603050405020304" pitchFamily="18" charset="0"/>
              </a:rPr>
              <a:t>In Java 7, try-with-resources has a limitation that requires resource to declare locally within its block</a:t>
            </a:r>
          </a:p>
          <a:p>
            <a:endParaRPr lang="en-US" dirty="0"/>
          </a:p>
        </p:txBody>
      </p:sp>
    </p:spTree>
    <p:extLst>
      <p:ext uri="{BB962C8B-B14F-4D97-AF65-F5344CB8AC3E}">
        <p14:creationId xmlns:p14="http://schemas.microsoft.com/office/powerpoint/2010/main" val="892025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solidFill>
                  <a:srgbClr val="C00000"/>
                </a:solidFill>
                <a:latin typeface="Times New Roman" panose="02020603050405020304" pitchFamily="18" charset="0"/>
                <a:cs typeface="Times New Roman" panose="02020603050405020304" pitchFamily="18" charset="0"/>
              </a:rPr>
              <a:t>Java 7 Resource declared outside the resource block</a:t>
            </a:r>
            <a:br>
              <a:rPr lang="en-US" sz="2400" dirty="0">
                <a:solidFill>
                  <a:srgbClr val="C00000"/>
                </a:solidFill>
                <a:latin typeface="Times New Roman" panose="02020603050405020304" pitchFamily="18" charset="0"/>
                <a:cs typeface="Times New Roman" panose="02020603050405020304" pitchFamily="18" charset="0"/>
              </a:rPr>
            </a:br>
            <a:r>
              <a:rPr lang="en-US" sz="2400" dirty="0">
                <a:solidFill>
                  <a:srgbClr val="C00000"/>
                </a:solidFill>
                <a:latin typeface="Times New Roman" panose="02020603050405020304" pitchFamily="18" charset="0"/>
                <a:cs typeface="Times New Roman" panose="02020603050405020304" pitchFamily="18" charset="0"/>
              </a:rPr>
              <a:t>If we do like the following code in Java 7, compiler generates an error message.</a:t>
            </a:r>
            <a:br>
              <a:rPr lang="en-US" sz="2400" dirty="0">
                <a:solidFill>
                  <a:srgbClr val="C00000"/>
                </a:solidFill>
                <a:latin typeface="Times New Roman" panose="02020603050405020304" pitchFamily="18" charset="0"/>
                <a:cs typeface="Times New Roman" panose="02020603050405020304" pitchFamily="18" charset="0"/>
              </a:rPr>
            </a:br>
            <a:endParaRPr lang="en-US" sz="2400" dirty="0">
              <a:solidFill>
                <a:srgbClr val="C0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838200" y="1812745"/>
            <a:ext cx="10160358" cy="4771073"/>
          </a:xfrm>
          <a:prstGeom prst="rect">
            <a:avLst/>
          </a:prstGeom>
        </p:spPr>
      </p:pic>
    </p:spTree>
    <p:extLst>
      <p:ext uri="{BB962C8B-B14F-4D97-AF65-F5344CB8AC3E}">
        <p14:creationId xmlns:p14="http://schemas.microsoft.com/office/powerpoint/2010/main" val="971655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000" dirty="0">
                <a:solidFill>
                  <a:srgbClr val="C00000"/>
                </a:solidFill>
                <a:latin typeface="Times New Roman" panose="02020603050405020304" pitchFamily="18" charset="0"/>
                <a:cs typeface="Times New Roman" panose="02020603050405020304" pitchFamily="18" charset="0"/>
              </a:rPr>
              <a:t>To deal with this error, try-with-resource is improved in Java 9 and now we can use reference of the resource that is not declared locally.</a:t>
            </a:r>
            <a:br>
              <a:rPr lang="en-US" sz="2000" dirty="0">
                <a:solidFill>
                  <a:srgbClr val="C00000"/>
                </a:solidFill>
                <a:latin typeface="Times New Roman" panose="02020603050405020304" pitchFamily="18" charset="0"/>
                <a:cs typeface="Times New Roman" panose="02020603050405020304" pitchFamily="18" charset="0"/>
              </a:rPr>
            </a:br>
            <a:r>
              <a:rPr lang="en-US" sz="2000" dirty="0">
                <a:solidFill>
                  <a:srgbClr val="C00000"/>
                </a:solidFill>
                <a:latin typeface="Times New Roman" panose="02020603050405020304" pitchFamily="18" charset="0"/>
                <a:cs typeface="Times New Roman" panose="02020603050405020304" pitchFamily="18" charset="0"/>
              </a:rPr>
              <a:t>In this case, if we execute the above program using Java 9 compiler, it will execute nicely without any compile error.</a:t>
            </a:r>
            <a:br>
              <a:rPr lang="en-US" sz="2000" dirty="0">
                <a:solidFill>
                  <a:srgbClr val="C00000"/>
                </a:solidFill>
                <a:latin typeface="Times New Roman" panose="02020603050405020304" pitchFamily="18" charset="0"/>
                <a:cs typeface="Times New Roman" panose="02020603050405020304" pitchFamily="18" charset="0"/>
              </a:rPr>
            </a:br>
            <a:endParaRPr lang="en-US" sz="2000" dirty="0">
              <a:solidFill>
                <a:srgbClr val="C0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1008291" y="1799867"/>
            <a:ext cx="9745568" cy="4351338"/>
          </a:xfrm>
          <a:prstGeom prst="rect">
            <a:avLst/>
          </a:prstGeom>
        </p:spPr>
      </p:pic>
    </p:spTree>
    <p:extLst>
      <p:ext uri="{BB962C8B-B14F-4D97-AF65-F5344CB8AC3E}">
        <p14:creationId xmlns:p14="http://schemas.microsoft.com/office/powerpoint/2010/main" val="1247367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8800" b="1" dirty="0">
                <a:solidFill>
                  <a:srgbClr val="C00000"/>
                </a:solidFill>
                <a:latin typeface="Times New Roman" panose="02020603050405020304" pitchFamily="18" charset="0"/>
                <a:cs typeface="Times New Roman" panose="02020603050405020304" pitchFamily="18" charset="0"/>
              </a:rPr>
              <a:t>      </a:t>
            </a:r>
          </a:p>
          <a:p>
            <a:pPr marL="0" indent="0">
              <a:buNone/>
            </a:pPr>
            <a:r>
              <a:rPr lang="en-US" sz="8800" b="1" dirty="0">
                <a:solidFill>
                  <a:srgbClr val="C00000"/>
                </a:solidFill>
                <a:latin typeface="Times New Roman" panose="02020603050405020304" pitchFamily="18" charset="0"/>
                <a:cs typeface="Times New Roman" panose="02020603050405020304" pitchFamily="18" charset="0"/>
              </a:rPr>
              <a:t>          THANKS</a:t>
            </a:r>
            <a:endParaRPr lang="en-US"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3090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888507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693398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449</TotalTime>
  <Words>1106</Words>
  <Application>Microsoft Office PowerPoint</Application>
  <PresentationFormat>Widescreen</PresentationFormat>
  <Paragraphs>76</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Courier New</vt:lpstr>
      <vt:lpstr>Times New Roman</vt:lpstr>
      <vt:lpstr>Wingdings</vt:lpstr>
      <vt:lpstr>Office Theme</vt:lpstr>
      <vt:lpstr>Exception:</vt:lpstr>
      <vt:lpstr>Exception Handling </vt:lpstr>
      <vt:lpstr>Advantage of Exception Handling </vt:lpstr>
      <vt:lpstr>Types of Exceptions </vt:lpstr>
      <vt:lpstr>Unchecked Exceptions </vt:lpstr>
      <vt:lpstr>Try block </vt:lpstr>
      <vt:lpstr>Catch Block </vt:lpstr>
      <vt:lpstr>Syntax of “try – catch” in java </vt:lpstr>
      <vt:lpstr>PowerPoint Presentation</vt:lpstr>
      <vt:lpstr>Multiple “catch” blocks in Java </vt:lpstr>
      <vt:lpstr>Example of Multiple catch blocks </vt:lpstr>
      <vt:lpstr>Nested try catch block in Java  </vt:lpstr>
      <vt:lpstr>finally block – Exception Handling </vt:lpstr>
      <vt:lpstr>Syntax of finally Block </vt:lpstr>
      <vt:lpstr>Example of finally Block </vt:lpstr>
      <vt:lpstr> The “try-with-resources” statement  Interview Question (8 LPA)    </vt:lpstr>
      <vt:lpstr>Example: (try with resource)</vt:lpstr>
      <vt:lpstr>Java 9: Try With Resource Enhancement </vt:lpstr>
      <vt:lpstr>Java 7 Resource declared outside the resource block If we do like the following code in Java 7, compiler generates an error message. </vt:lpstr>
      <vt:lpstr>To deal with this error, try-with-resource is improved in Java 9 and now we can use reference of the resource that is not declared locally. In this case, if we execute the above program using Java 9 compiler, it will execute nicely without any compile error.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Technologies</dc:title>
  <dc:creator>Microsoft account</dc:creator>
  <cp:lastModifiedBy>Vinay Kumar CSIT</cp:lastModifiedBy>
  <cp:revision>47</cp:revision>
  <dcterms:created xsi:type="dcterms:W3CDTF">2021-10-08T08:21:37Z</dcterms:created>
  <dcterms:modified xsi:type="dcterms:W3CDTF">2024-07-12T16:10:50Z</dcterms:modified>
</cp:coreProperties>
</file>