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2" r:id="rId2"/>
    <p:sldId id="261" r:id="rId3"/>
    <p:sldId id="260" r:id="rId4"/>
    <p:sldId id="258" r:id="rId5"/>
    <p:sldId id="269" r:id="rId6"/>
    <p:sldId id="262" r:id="rId7"/>
    <p:sldId id="263" r:id="rId8"/>
    <p:sldId id="264" r:id="rId9"/>
    <p:sldId id="265" r:id="rId10"/>
    <p:sldId id="266" r:id="rId11"/>
    <p:sldId id="268" r:id="rId12"/>
    <p:sldId id="270" r:id="rId13"/>
    <p:sldId id="271" r:id="rId14"/>
    <p:sldId id="272" r:id="rId15"/>
    <p:sldId id="273" r:id="rId16"/>
    <p:sldId id="274" r:id="rId17"/>
    <p:sldId id="275" r:id="rId18"/>
    <p:sldId id="276" r:id="rId19"/>
    <p:sldId id="277" r:id="rId20"/>
    <p:sldId id="278"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2"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D49B50-F180-4FDC-8595-7905846ABFC5}" type="datetimeFigureOut">
              <a:rPr lang="en-US" smtClean="0"/>
              <a:t>7/12/2024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D0B8BB-5ADD-4223-A634-88C0756FB7D3}" type="slidenum">
              <a:rPr lang="en-US" smtClean="0"/>
              <a:t>‹#›</a:t>
            </a:fld>
            <a:endParaRPr lang="en-US"/>
          </a:p>
        </p:txBody>
      </p:sp>
    </p:spTree>
    <p:extLst>
      <p:ext uri="{BB962C8B-B14F-4D97-AF65-F5344CB8AC3E}">
        <p14:creationId xmlns:p14="http://schemas.microsoft.com/office/powerpoint/2010/main" val="2771880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800814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55324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3403124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E984C0-3C0F-4CD6-9A18-5FE61979C4A8}"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965883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E984C0-3C0F-4CD6-9A18-5FE61979C4A8}" type="datetimeFigureOut">
              <a:rPr lang="en-US" smtClean="0"/>
              <a:t>7/12/2024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778782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E984C0-3C0F-4CD6-9A18-5FE61979C4A8}" type="datetimeFigureOut">
              <a:rPr lang="en-US" smtClean="0"/>
              <a:t>7/12/2024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071028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984C0-3C0F-4CD6-9A18-5FE61979C4A8}" type="datetimeFigureOut">
              <a:rPr lang="en-US" smtClean="0"/>
              <a:t>7/12/2024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938278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984C0-3C0F-4CD6-9A18-5FE61979C4A8}"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3105534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984C0-3C0F-4CD6-9A18-5FE61979C4A8}" type="datetimeFigureOut">
              <a:rPr lang="en-US" smtClean="0"/>
              <a:t>7/12/2024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207798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685066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E984C0-3C0F-4CD6-9A18-5FE61979C4A8}" type="datetimeFigureOut">
              <a:rPr lang="en-US" smtClean="0"/>
              <a:t>7/12/2024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137DDD-F5B5-4C18-A792-D6BF6C663DA5}" type="slidenum">
              <a:rPr lang="en-US" smtClean="0"/>
              <a:t>‹#›</a:t>
            </a:fld>
            <a:endParaRPr lang="en-US"/>
          </a:p>
        </p:txBody>
      </p:sp>
    </p:spTree>
    <p:extLst>
      <p:ext uri="{BB962C8B-B14F-4D97-AF65-F5344CB8AC3E}">
        <p14:creationId xmlns:p14="http://schemas.microsoft.com/office/powerpoint/2010/main" val="190455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E984C0-3C0F-4CD6-9A18-5FE61979C4A8}" type="datetimeFigureOut">
              <a:rPr lang="en-US" smtClean="0"/>
              <a:t>7/12/2024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37DDD-F5B5-4C18-A792-D6BF6C663DA5}" type="slidenum">
              <a:rPr lang="en-US" smtClean="0"/>
              <a:t>‹#›</a:t>
            </a:fld>
            <a:endParaRPr lang="en-US"/>
          </a:p>
        </p:txBody>
      </p:sp>
    </p:spTree>
    <p:extLst>
      <p:ext uri="{BB962C8B-B14F-4D97-AF65-F5344CB8AC3E}">
        <p14:creationId xmlns:p14="http://schemas.microsoft.com/office/powerpoint/2010/main" val="3619691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beginnersbook.com/2013/05/java-interfac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Important Keywords: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solidFill>
                  <a:srgbClr val="C00000"/>
                </a:solidFill>
                <a:latin typeface="Times New Roman" panose="02020603050405020304" pitchFamily="18" charset="0"/>
                <a:cs typeface="Times New Roman" panose="02020603050405020304" pitchFamily="18" charset="0"/>
              </a:rPr>
              <a:t>Declaration</a:t>
            </a:r>
          </a:p>
          <a:p>
            <a:pPr>
              <a:buFont typeface="Wingdings" panose="05000000000000000000" pitchFamily="2" charset="2"/>
              <a:buChar char="Ø"/>
            </a:pPr>
            <a:r>
              <a:rPr lang="en-US" b="1" dirty="0">
                <a:solidFill>
                  <a:srgbClr val="C00000"/>
                </a:solidFill>
                <a:latin typeface="Times New Roman" panose="02020603050405020304" pitchFamily="18" charset="0"/>
                <a:cs typeface="Times New Roman" panose="02020603050405020304" pitchFamily="18" charset="0"/>
              </a:rPr>
              <a:t>Abstract Methods</a:t>
            </a:r>
          </a:p>
          <a:p>
            <a:pPr marL="0" indent="0">
              <a:buNone/>
            </a:pPr>
            <a:endParaRPr lang="en-US" b="1" dirty="0">
              <a:solidFill>
                <a:srgbClr val="C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C00000"/>
                </a:solidFill>
                <a:latin typeface="Times New Roman" panose="02020603050405020304" pitchFamily="18" charset="0"/>
                <a:cs typeface="Times New Roman" panose="02020603050405020304" pitchFamily="18" charset="0"/>
              </a:rPr>
              <a:t>Concrete Methods</a:t>
            </a:r>
          </a:p>
          <a:p>
            <a:pPr>
              <a:buFont typeface="Wingdings" panose="05000000000000000000" pitchFamily="2" charset="2"/>
              <a:buChar char="Ø"/>
            </a:pPr>
            <a:r>
              <a:rPr lang="en-US" b="1" dirty="0">
                <a:solidFill>
                  <a:srgbClr val="C00000"/>
                </a:solidFill>
                <a:latin typeface="Times New Roman" panose="02020603050405020304" pitchFamily="18" charset="0"/>
                <a:cs typeface="Times New Roman" panose="02020603050405020304" pitchFamily="18" charset="0"/>
              </a:rPr>
              <a:t>Definition</a:t>
            </a:r>
          </a:p>
          <a:p>
            <a:pPr marL="0" indent="0">
              <a:buNone/>
            </a:pPr>
            <a:endParaRPr lang="en-US"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409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Abstract class declaration</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347972"/>
            <a:ext cx="10547300" cy="4408884"/>
          </a:xfrm>
          <a:prstGeom prst="rect">
            <a:avLst/>
          </a:prstGeom>
        </p:spPr>
      </p:pic>
    </p:spTree>
    <p:extLst>
      <p:ext uri="{BB962C8B-B14F-4D97-AF65-F5344CB8AC3E}">
        <p14:creationId xmlns:p14="http://schemas.microsoft.com/office/powerpoint/2010/main" val="1018347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Abstract class Example</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730814" y="1207439"/>
            <a:ext cx="11001839" cy="5410804"/>
          </a:xfrm>
          <a:prstGeom prst="rect">
            <a:avLst/>
          </a:prstGeom>
        </p:spPr>
      </p:pic>
    </p:spTree>
    <p:extLst>
      <p:ext uri="{BB962C8B-B14F-4D97-AF65-F5344CB8AC3E}">
        <p14:creationId xmlns:p14="http://schemas.microsoft.com/office/powerpoint/2010/main" val="371707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Abstract Class</a:t>
            </a:r>
            <a:r>
              <a:rPr lang="en-US" b="1" dirty="0"/>
              <a:t> </a:t>
            </a:r>
            <a:br>
              <a:rPr lang="en-US" b="1"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class that is declared using “</a:t>
            </a:r>
            <a:r>
              <a:rPr lang="en-US" b="1" dirty="0">
                <a:latin typeface="Times New Roman" panose="02020603050405020304" pitchFamily="18" charset="0"/>
                <a:cs typeface="Times New Roman" panose="02020603050405020304" pitchFamily="18" charset="0"/>
              </a:rPr>
              <a:t>abstract</a:t>
            </a:r>
            <a:r>
              <a:rPr lang="en-US" dirty="0">
                <a:latin typeface="Times New Roman" panose="02020603050405020304" pitchFamily="18" charset="0"/>
                <a:cs typeface="Times New Roman" panose="02020603050405020304" pitchFamily="18" charset="0"/>
              </a:rPr>
              <a:t>” keyword is known as abstract class. It can have abstract methods(methods without body) as well as concrete methods (regular methods with body). </a:t>
            </a:r>
          </a:p>
          <a:p>
            <a:r>
              <a:rPr lang="en-US" dirty="0">
                <a:latin typeface="Times New Roman" panose="02020603050405020304" pitchFamily="18" charset="0"/>
                <a:cs typeface="Times New Roman" panose="02020603050405020304" pitchFamily="18" charset="0"/>
              </a:rPr>
              <a:t>An abstract class can not be </a:t>
            </a:r>
            <a:r>
              <a:rPr lang="en-US" b="1" dirty="0">
                <a:latin typeface="Times New Roman" panose="02020603050405020304" pitchFamily="18" charset="0"/>
                <a:cs typeface="Times New Roman" panose="02020603050405020304" pitchFamily="18" charset="0"/>
              </a:rPr>
              <a:t>instantiated</a:t>
            </a:r>
            <a:r>
              <a:rPr lang="en-US" dirty="0">
                <a:latin typeface="Times New Roman" panose="02020603050405020304" pitchFamily="18" charset="0"/>
                <a:cs typeface="Times New Roman" panose="02020603050405020304" pitchFamily="18" charset="0"/>
              </a:rPr>
              <a:t>, which means you are not allowed to create an </a:t>
            </a:r>
            <a:r>
              <a:rPr lang="en-US" b="1" dirty="0">
                <a:latin typeface="Times New Roman" panose="02020603050405020304" pitchFamily="18" charset="0"/>
                <a:cs typeface="Times New Roman" panose="02020603050405020304" pitchFamily="18" charset="0"/>
              </a:rPr>
              <a:t>object</a:t>
            </a:r>
            <a:r>
              <a:rPr lang="en-US" dirty="0">
                <a:latin typeface="Times New Roman" panose="02020603050405020304" pitchFamily="18" charset="0"/>
                <a:cs typeface="Times New Roman" panose="02020603050405020304" pitchFamily="18" charset="0"/>
              </a:rPr>
              <a:t> of it.</a:t>
            </a:r>
          </a:p>
        </p:txBody>
      </p:sp>
    </p:spTree>
    <p:extLst>
      <p:ext uri="{BB962C8B-B14F-4D97-AF65-F5344CB8AC3E}">
        <p14:creationId xmlns:p14="http://schemas.microsoft.com/office/powerpoint/2010/main" val="266803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Rules</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r>
              <a:rPr lang="en-US" sz="2600" b="1" dirty="0">
                <a:solidFill>
                  <a:srgbClr val="A20000"/>
                </a:solidFill>
                <a:latin typeface="Times New Roman" panose="02020603050405020304" pitchFamily="18" charset="0"/>
                <a:cs typeface="Times New Roman" panose="02020603050405020304" pitchFamily="18" charset="0"/>
              </a:rPr>
              <a:t>Note 1</a:t>
            </a:r>
            <a:r>
              <a:rPr lang="en-US" b="1" dirty="0"/>
              <a:t>:</a:t>
            </a:r>
            <a:r>
              <a:rPr lang="en-US" dirty="0">
                <a:latin typeface="Times New Roman" panose="02020603050405020304" pitchFamily="18" charset="0"/>
                <a:cs typeface="Times New Roman" panose="02020603050405020304" pitchFamily="18" charset="0"/>
              </a:rPr>
              <a:t> A class derived from the abstract class must implement </a:t>
            </a:r>
            <a:r>
              <a:rPr lang="en-US" b="1" dirty="0">
                <a:solidFill>
                  <a:srgbClr val="C00000"/>
                </a:solidFill>
                <a:latin typeface="Times New Roman" panose="02020603050405020304" pitchFamily="18" charset="0"/>
                <a:cs typeface="Times New Roman" panose="02020603050405020304" pitchFamily="18" charset="0"/>
              </a:rPr>
              <a:t>all</a:t>
            </a:r>
            <a:r>
              <a:rPr lang="en-US" dirty="0">
                <a:latin typeface="Times New Roman" panose="02020603050405020304" pitchFamily="18" charset="0"/>
                <a:cs typeface="Times New Roman" panose="02020603050405020304" pitchFamily="18" charset="0"/>
              </a:rPr>
              <a:t> those methods that are declared as abstract in the parent class.</a:t>
            </a:r>
          </a:p>
          <a:p>
            <a:pPr algn="just"/>
            <a:r>
              <a:rPr lang="en-US" sz="2600" b="1" dirty="0">
                <a:solidFill>
                  <a:srgbClr val="A20000"/>
                </a:solidFill>
                <a:latin typeface="Times New Roman" panose="02020603050405020304" pitchFamily="18" charset="0"/>
                <a:cs typeface="Times New Roman" panose="02020603050405020304" pitchFamily="18" charset="0"/>
              </a:rPr>
              <a:t>Note 2:</a:t>
            </a:r>
            <a:r>
              <a:rPr lang="en-US" dirty="0">
                <a:latin typeface="Times New Roman" panose="02020603050405020304" pitchFamily="18" charset="0"/>
                <a:cs typeface="Times New Roman" panose="02020603050405020304" pitchFamily="18" charset="0"/>
              </a:rPr>
              <a:t> Abstract class cannot be instantiated which means you cannot create the object of it. To use this class, you need to create another class that extends this this class and provides the implementation of abstract methods, then you can use the object of that child class to call non-abstract methods of parent class as well as implemented methods(those that were abstract in parent but implemented in child class).</a:t>
            </a:r>
          </a:p>
          <a:p>
            <a:pPr algn="just"/>
            <a:r>
              <a:rPr lang="en-US" sz="2600" b="1" dirty="0">
                <a:solidFill>
                  <a:srgbClr val="A20000"/>
                </a:solidFill>
                <a:latin typeface="Times New Roman" panose="02020603050405020304" pitchFamily="18" charset="0"/>
                <a:cs typeface="Times New Roman" panose="02020603050405020304" pitchFamily="18" charset="0"/>
              </a:rPr>
              <a:t>Note 3:</a:t>
            </a:r>
            <a:r>
              <a:rPr lang="en-US" dirty="0">
                <a:latin typeface="Times New Roman" panose="02020603050405020304" pitchFamily="18" charset="0"/>
                <a:cs typeface="Times New Roman" panose="02020603050405020304" pitchFamily="18" charset="0"/>
              </a:rPr>
              <a:t> If a child does not implement all the abstract methods of abstract parent class, then the child class must need to be declared abstract as well.</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159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Why can’t we create the object of an abstract class?</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Because these classes are incomplete, they have abstract methods that have no body so if java allows you to create object of this class then if someone calls the abstract method using that object then What would </a:t>
            </a:r>
            <a:r>
              <a:rPr lang="en-US" sz="2400" dirty="0" err="1">
                <a:latin typeface="Times New Roman" panose="02020603050405020304" pitchFamily="18" charset="0"/>
                <a:cs typeface="Times New Roman" panose="02020603050405020304" pitchFamily="18" charset="0"/>
              </a:rPr>
              <a:t>happen?There</a:t>
            </a:r>
            <a:r>
              <a:rPr lang="en-US" sz="2400" dirty="0">
                <a:latin typeface="Times New Roman" panose="02020603050405020304" pitchFamily="18" charset="0"/>
                <a:cs typeface="Times New Roman" panose="02020603050405020304" pitchFamily="18" charset="0"/>
              </a:rPr>
              <a:t> would be no actual implementation of the method to invoke.</a:t>
            </a:r>
          </a:p>
          <a:p>
            <a:pPr marL="0" indent="0">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Also because an object is concrete. An abstract class is like a template, so you have to extend it and build on it before you can use it.</a:t>
            </a:r>
          </a:p>
        </p:txBody>
      </p:sp>
    </p:spTree>
    <p:extLst>
      <p:ext uri="{BB962C8B-B14F-4D97-AF65-F5344CB8AC3E}">
        <p14:creationId xmlns:p14="http://schemas.microsoft.com/office/powerpoint/2010/main" val="948628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Example to demonstrate that object creation of abstract class is not allowed</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8200" y="1593805"/>
            <a:ext cx="10649755" cy="4964334"/>
          </a:xfrm>
          <a:prstGeom prst="rect">
            <a:avLst/>
          </a:prstGeom>
        </p:spPr>
      </p:pic>
    </p:spTree>
    <p:extLst>
      <p:ext uri="{BB962C8B-B14F-4D97-AF65-F5344CB8AC3E}">
        <p14:creationId xmlns:p14="http://schemas.microsoft.com/office/powerpoint/2010/main" val="3536065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Example of Abstract class and method</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838200" y="1246075"/>
            <a:ext cx="10662634" cy="5257755"/>
          </a:xfrm>
          <a:prstGeom prst="rect">
            <a:avLst/>
          </a:prstGeom>
        </p:spPr>
      </p:pic>
    </p:spTree>
    <p:extLst>
      <p:ext uri="{BB962C8B-B14F-4D97-AF65-F5344CB8AC3E}">
        <p14:creationId xmlns:p14="http://schemas.microsoft.com/office/powerpoint/2010/main" val="3438238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Can a abstract class have a constructor ?</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a:xfrm>
            <a:off x="838200" y="1797490"/>
            <a:ext cx="10515600" cy="4351338"/>
          </a:xfrm>
        </p:spPr>
        <p:txBody>
          <a:bodyPr>
            <a:normAutofit/>
          </a:bodyPr>
          <a:lstStyle/>
          <a:p>
            <a:pPr marL="0" indent="0">
              <a:buNone/>
            </a:pPr>
            <a:r>
              <a:rPr lang="en-US" sz="3200" b="1" dirty="0">
                <a:solidFill>
                  <a:srgbClr val="A20000"/>
                </a:solidFill>
                <a:latin typeface="Times New Roman" panose="02020603050405020304" pitchFamily="18" charset="0"/>
                <a:cs typeface="Times New Roman" panose="02020603050405020304" pitchFamily="18" charset="0"/>
              </a:rPr>
              <a:t>Ans: </a:t>
            </a:r>
            <a:r>
              <a:rPr lang="en-US" dirty="0">
                <a:latin typeface="Times New Roman" panose="02020603050405020304" pitchFamily="18" charset="0"/>
                <a:cs typeface="Times New Roman" panose="02020603050405020304" pitchFamily="18" charset="0"/>
              </a:rPr>
              <a:t>Abstract class can also have constructor because constructors are not used for creating object, constructors are used to initialize the data members of a class and Abstract class can also have data member and for initialize the data member of abstract class need a constructor if we did not provide the constructor then </a:t>
            </a:r>
            <a:r>
              <a:rPr lang="en-US" dirty="0" err="1">
                <a:solidFill>
                  <a:srgbClr val="C00000"/>
                </a:solidFill>
                <a:latin typeface="Times New Roman" panose="02020603050405020304" pitchFamily="18" charset="0"/>
                <a:cs typeface="Times New Roman" panose="02020603050405020304" pitchFamily="18" charset="0"/>
              </a:rPr>
              <a:t>jvm</a:t>
            </a:r>
            <a:r>
              <a:rPr lang="en-US" dirty="0">
                <a:solidFill>
                  <a:srgbClr val="C00000"/>
                </a:solidFill>
                <a:latin typeface="Times New Roman" panose="02020603050405020304" pitchFamily="18" charset="0"/>
                <a:cs typeface="Times New Roman" panose="02020603050405020304" pitchFamily="18" charset="0"/>
              </a:rPr>
              <a:t> supply the 0-param or default constructor for initializing the data member.</a:t>
            </a:r>
          </a:p>
        </p:txBody>
      </p:sp>
    </p:spTree>
    <p:extLst>
      <p:ext uri="{BB962C8B-B14F-4D97-AF65-F5344CB8AC3E}">
        <p14:creationId xmlns:p14="http://schemas.microsoft.com/office/powerpoint/2010/main" val="2053795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How can you access concrete methods in abstract class ?</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sz="3200" b="1" dirty="0">
                <a:solidFill>
                  <a:srgbClr val="A20000"/>
                </a:solidFill>
                <a:latin typeface="Times New Roman" panose="02020603050405020304" pitchFamily="18" charset="0"/>
                <a:cs typeface="Times New Roman" panose="02020603050405020304" pitchFamily="18" charset="0"/>
              </a:rPr>
              <a:t>Ans:</a:t>
            </a:r>
            <a:r>
              <a:rPr lang="en-US" dirty="0"/>
              <a:t> </a:t>
            </a:r>
            <a:r>
              <a:rPr lang="en-US" dirty="0">
                <a:latin typeface="Times New Roman" panose="02020603050405020304" pitchFamily="18" charset="0"/>
                <a:cs typeface="Times New Roman" panose="02020603050405020304" pitchFamily="18" charset="0"/>
              </a:rPr>
              <a:t>You cannot access the concrete methods of an abstract class unless you extend the class. An abstract class is actually almost useless on their own. </a:t>
            </a:r>
          </a:p>
          <a:p>
            <a:pPr marL="0" indent="0">
              <a:buNone/>
            </a:pPr>
            <a:r>
              <a:rPr lang="en-US" dirty="0">
                <a:latin typeface="Times New Roman" panose="02020603050405020304" pitchFamily="18" charset="0"/>
                <a:cs typeface="Times New Roman" panose="02020603050405020304" pitchFamily="18" charset="0"/>
              </a:rPr>
              <a:t>You can see an abstract class like a </a:t>
            </a:r>
            <a:r>
              <a:rPr lang="en-US" b="1" dirty="0">
                <a:latin typeface="Times New Roman" panose="02020603050405020304" pitchFamily="18" charset="0"/>
                <a:cs typeface="Times New Roman" panose="02020603050405020304" pitchFamily="18" charset="0"/>
              </a:rPr>
              <a:t>lazy student </a:t>
            </a:r>
            <a:r>
              <a:rPr lang="en-US" dirty="0">
                <a:latin typeface="Times New Roman" panose="02020603050405020304" pitchFamily="18" charset="0"/>
                <a:cs typeface="Times New Roman" panose="02020603050405020304" pitchFamily="18" charset="0"/>
              </a:rPr>
              <a:t>who has to be told to read his books; if he doesn’t get told, he won’t be able to read his books. Telling the student is now analogous to extending the abstract class and the student then reading his books is analogous to the execution of the concrete methods</a:t>
            </a:r>
          </a:p>
        </p:txBody>
      </p:sp>
    </p:spTree>
    <p:extLst>
      <p:ext uri="{BB962C8B-B14F-4D97-AF65-F5344CB8AC3E}">
        <p14:creationId xmlns:p14="http://schemas.microsoft.com/office/powerpoint/2010/main" val="699340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Interface</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Unlike abstract class an interface is used for full abstraction. Abstraction is a process where you show only “relevant” data and “hide” unnecessary details of an object from the user.</a:t>
            </a:r>
          </a:p>
          <a:p>
            <a:pPr algn="just"/>
            <a:r>
              <a:rPr lang="en-US" dirty="0">
                <a:latin typeface="Times New Roman" panose="02020603050405020304" pitchFamily="18" charset="0"/>
                <a:cs typeface="Times New Roman" panose="02020603050405020304" pitchFamily="18" charset="0"/>
              </a:rPr>
              <a:t>Interface looks like a class but it is not a class. An interface can have methods and variables just like the class but the methods declared in interface are by default abstract (only method signature, no body)</a:t>
            </a:r>
          </a:p>
          <a:p>
            <a:pPr algn="just"/>
            <a:r>
              <a:rPr lang="en-US" dirty="0">
                <a:latin typeface="Times New Roman" panose="02020603050405020304" pitchFamily="18" charset="0"/>
                <a:cs typeface="Times New Roman" panose="02020603050405020304" pitchFamily="18" charset="0"/>
              </a:rPr>
              <a:t>The variables declared in an interface are public, static &amp; final by default.</a:t>
            </a:r>
          </a:p>
        </p:txBody>
      </p:sp>
    </p:spTree>
    <p:extLst>
      <p:ext uri="{BB962C8B-B14F-4D97-AF65-F5344CB8AC3E}">
        <p14:creationId xmlns:p14="http://schemas.microsoft.com/office/powerpoint/2010/main" val="37545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Interfaces in Java 8 (Interview Question)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Prior to java 8, </a:t>
            </a:r>
            <a:r>
              <a:rPr lang="en-US" b="1" dirty="0">
                <a:latin typeface="Times New Roman" panose="02020603050405020304" pitchFamily="18" charset="0"/>
                <a:cs typeface="Times New Roman" panose="02020603050405020304" pitchFamily="18" charset="0"/>
                <a:hlinkClick r:id="rId2"/>
              </a:rPr>
              <a:t>interface in java</a:t>
            </a:r>
            <a:r>
              <a:rPr lang="en-US" dirty="0">
                <a:latin typeface="Times New Roman" panose="02020603050405020304" pitchFamily="18" charset="0"/>
                <a:cs typeface="Times New Roman" panose="02020603050405020304" pitchFamily="18" charset="0"/>
              </a:rPr>
              <a:t> can only have abstract methods. All the methods of interfaces are public &amp; abstract by default. Java 8 </a:t>
            </a:r>
            <a:r>
              <a:rPr lang="en-US" b="1" dirty="0">
                <a:solidFill>
                  <a:srgbClr val="C00000"/>
                </a:solidFill>
                <a:latin typeface="Times New Roman" panose="02020603050405020304" pitchFamily="18" charset="0"/>
                <a:cs typeface="Times New Roman" panose="02020603050405020304" pitchFamily="18" charset="0"/>
              </a:rPr>
              <a:t>allows the interfaces to have default and static methods</a:t>
            </a:r>
            <a:r>
              <a:rPr lang="en-US" dirty="0">
                <a:latin typeface="Times New Roman" panose="02020603050405020304" pitchFamily="18" charset="0"/>
                <a:cs typeface="Times New Roman" panose="02020603050405020304" pitchFamily="18" charset="0"/>
              </a:rPr>
              <a:t>. The reason we have default methods in interfaces is to allow the developers to add new methods to the interfaces without affecting the classes that implements these interfaces.</a:t>
            </a:r>
          </a:p>
          <a:p>
            <a:r>
              <a:rPr lang="en-US" b="1" dirty="0">
                <a:latin typeface="Times New Roman" panose="02020603050405020304" pitchFamily="18" charset="0"/>
                <a:cs typeface="Times New Roman" panose="02020603050405020304" pitchFamily="18" charset="0"/>
              </a:rPr>
              <a:t>Static methods</a:t>
            </a:r>
            <a:r>
              <a:rPr lang="en-US" dirty="0">
                <a:latin typeface="Times New Roman" panose="02020603050405020304" pitchFamily="18" charset="0"/>
                <a:cs typeface="Times New Roman" panose="02020603050405020304" pitchFamily="18" charset="0"/>
              </a:rPr>
              <a:t> in interfaces are similar to the default methods except that we </a:t>
            </a:r>
            <a:r>
              <a:rPr lang="en-US" b="1" dirty="0">
                <a:solidFill>
                  <a:srgbClr val="C00000"/>
                </a:solidFill>
                <a:latin typeface="Times New Roman" panose="02020603050405020304" pitchFamily="18" charset="0"/>
                <a:cs typeface="Times New Roman" panose="02020603050405020304" pitchFamily="18" charset="0"/>
              </a:rPr>
              <a:t>cannot override </a:t>
            </a:r>
            <a:r>
              <a:rPr lang="en-US" dirty="0">
                <a:latin typeface="Times New Roman" panose="02020603050405020304" pitchFamily="18" charset="0"/>
                <a:cs typeface="Times New Roman" panose="02020603050405020304" pitchFamily="18" charset="0"/>
              </a:rPr>
              <a:t>these methods in the classes that implements these interfaces.</a:t>
            </a:r>
          </a:p>
        </p:txBody>
      </p:sp>
    </p:spTree>
    <p:extLst>
      <p:ext uri="{BB962C8B-B14F-4D97-AF65-F5344CB8AC3E}">
        <p14:creationId xmlns:p14="http://schemas.microsoft.com/office/powerpoint/2010/main" val="242598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Example of an Interface in Java</a:t>
            </a:r>
            <a:br>
              <a:rPr lang="en-US" sz="3200" b="1" dirty="0">
                <a:solidFill>
                  <a:srgbClr val="A20000"/>
                </a:solidFill>
                <a:latin typeface="Times New Roman" panose="02020603050405020304" pitchFamily="18" charset="0"/>
                <a:ea typeface="+mn-ea"/>
                <a:cs typeface="Times New Roman" panose="02020603050405020304" pitchFamily="18" charset="0"/>
              </a:rPr>
            </a:b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832744" y="1027906"/>
            <a:ext cx="11065179" cy="5231226"/>
          </a:xfrm>
          <a:prstGeom prst="rect">
            <a:avLst/>
          </a:prstGeom>
        </p:spPr>
      </p:pic>
    </p:spTree>
    <p:extLst>
      <p:ext uri="{BB962C8B-B14F-4D97-AF65-F5344CB8AC3E}">
        <p14:creationId xmlns:p14="http://schemas.microsoft.com/office/powerpoint/2010/main" val="1416439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rgbClr val="A20000"/>
                </a:solidFill>
                <a:latin typeface="Times New Roman" panose="02020603050405020304" pitchFamily="18" charset="0"/>
                <a:ea typeface="+mn-ea"/>
                <a:cs typeface="Times New Roman" panose="02020603050405020304" pitchFamily="18" charset="0"/>
              </a:rPr>
              <a:t>Interface and Inheritance</a:t>
            </a:r>
            <a:br>
              <a:rPr lang="en-US" sz="3600" b="1" dirty="0">
                <a:solidFill>
                  <a:srgbClr val="A20000"/>
                </a:solidFill>
                <a:latin typeface="Times New Roman" panose="02020603050405020304" pitchFamily="18" charset="0"/>
                <a:ea typeface="+mn-ea"/>
                <a:cs typeface="Times New Roman" panose="02020603050405020304" pitchFamily="18" charset="0"/>
              </a:rPr>
            </a:br>
            <a:r>
              <a:rPr lang="en-US" sz="2000" b="1" dirty="0"/>
              <a:t>Interface can extend the other interface. We have two interfaces Inf1 and Inf2. Inf2 extends Inf1 so If class implements the Inf2 ,it has to provide implementation of all the methods of interfaces Inf2 as well as Inf1</a:t>
            </a:r>
            <a:r>
              <a:rPr lang="en-US" b="1" dirty="0"/>
              <a:t>.</a:t>
            </a:r>
          </a:p>
        </p:txBody>
      </p:sp>
      <p:pic>
        <p:nvPicPr>
          <p:cNvPr id="4" name="Content Placeholder 3"/>
          <p:cNvPicPr>
            <a:picLocks noGrp="1" noChangeAspect="1"/>
          </p:cNvPicPr>
          <p:nvPr>
            <p:ph idx="1"/>
          </p:nvPr>
        </p:nvPicPr>
        <p:blipFill>
          <a:blip r:embed="rId2"/>
          <a:stretch>
            <a:fillRect/>
          </a:stretch>
        </p:blipFill>
        <p:spPr>
          <a:xfrm>
            <a:off x="838200" y="1690688"/>
            <a:ext cx="10367492" cy="4351338"/>
          </a:xfrm>
          <a:prstGeom prst="rect">
            <a:avLst/>
          </a:prstGeom>
        </p:spPr>
      </p:pic>
    </p:spTree>
    <p:extLst>
      <p:ext uri="{BB962C8B-B14F-4D97-AF65-F5344CB8AC3E}">
        <p14:creationId xmlns:p14="http://schemas.microsoft.com/office/powerpoint/2010/main" val="1006305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200" b="1" dirty="0">
                <a:solidFill>
                  <a:srgbClr val="A20000"/>
                </a:solidFill>
                <a:latin typeface="Times New Roman" panose="02020603050405020304" pitchFamily="18" charset="0"/>
                <a:ea typeface="+mn-ea"/>
                <a:cs typeface="Times New Roman" panose="02020603050405020304" pitchFamily="18" charset="0"/>
              </a:rPr>
              <a:t>Key points for interface:</a:t>
            </a:r>
            <a:endParaRPr lang="en-US" sz="3200" b="1" dirty="0">
              <a:solidFill>
                <a:srgbClr val="A20000"/>
              </a:solidFill>
              <a:latin typeface="Times New Roman" panose="02020603050405020304" pitchFamily="18" charset="0"/>
              <a:ea typeface="+mn-ea"/>
              <a:cs typeface="Times New Roman" panose="02020603050405020304" pitchFamily="18" charset="0"/>
            </a:endParaRPr>
          </a:p>
        </p:txBody>
      </p:sp>
      <p:sp>
        <p:nvSpPr>
          <p:cNvPr id="4" name="Rectangle 1"/>
          <p:cNvSpPr>
            <a:spLocks noGrp="1" noChangeArrowheads="1"/>
          </p:cNvSpPr>
          <p:nvPr>
            <p:ph idx="1"/>
          </p:nvPr>
        </p:nvSpPr>
        <p:spPr bwMode="auto">
          <a:xfrm>
            <a:off x="838199" y="1884739"/>
            <a:ext cx="9796975"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1) We can’t instantiate an interface in java. That means we cannot create the object of an interface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2) Interface provides full abstraction as none of its methods have body. On the other hand abstract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class provides partial abstraction as it can have abstract and concrete(methods with body) methods both.</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3) </a:t>
            </a:r>
            <a:r>
              <a:rPr kumimoji="0" lang="en-US" altLang="en-US" sz="1600" b="0" i="0" u="none" strike="noStrike" cap="none" normalizeH="0" baseline="0" dirty="0">
                <a:ln>
                  <a:noFill/>
                </a:ln>
                <a:solidFill>
                  <a:srgbClr val="222426"/>
                </a:solidFill>
                <a:effectLst/>
                <a:latin typeface="Courier New" panose="02070309020205020404" pitchFamily="49" charset="0"/>
                <a:cs typeface="Courier New" panose="02070309020205020404" pitchFamily="49" charset="0"/>
              </a:rPr>
              <a:t>implements</a:t>
            </a:r>
            <a:r>
              <a:rPr kumimoji="0" lang="en-US" altLang="en-US" sz="1800" b="0" i="0" u="none" strike="noStrike" cap="none" normalizeH="0" baseline="0" dirty="0">
                <a:ln>
                  <a:noFill/>
                </a:ln>
                <a:solidFill>
                  <a:srgbClr val="222426"/>
                </a:solidFill>
                <a:effectLst/>
                <a:latin typeface="Roboto"/>
              </a:rPr>
              <a:t> keyword is used by classes to implement an interface.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4) While providing implementation in class of any method of an interface, it needs to be mentioned as public.</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5) Class that implements any interface must implement all the methods of that interface, else the class should be declared abstract.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6) Interface cannot be declared as private, protected or transient.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7) All the interface methods are by default </a:t>
            </a:r>
            <a:r>
              <a:rPr kumimoji="0" lang="en-US" altLang="en-US" sz="1800" b="1" i="0" u="none" strike="noStrike" cap="none" normalizeH="0" baseline="0" dirty="0">
                <a:ln>
                  <a:noFill/>
                </a:ln>
                <a:solidFill>
                  <a:srgbClr val="222426"/>
                </a:solidFill>
                <a:effectLst/>
                <a:latin typeface="Roboto"/>
              </a:rPr>
              <a:t>abstract and public</a:t>
            </a:r>
            <a:r>
              <a:rPr kumimoji="0" lang="en-US" altLang="en-US" sz="1800" b="0" i="0" u="none" strike="noStrike" cap="none" normalizeH="0" baseline="0" dirty="0">
                <a:ln>
                  <a:noFill/>
                </a:ln>
                <a:solidFill>
                  <a:srgbClr val="222426"/>
                </a:solidFill>
                <a:effectLst/>
                <a:latin typeface="Roboto"/>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426"/>
                </a:solidFill>
                <a:effectLst/>
                <a:latin typeface="Roboto"/>
              </a:rPr>
              <a:t>8) Variables declared in interface are </a:t>
            </a:r>
            <a:r>
              <a:rPr kumimoji="0" lang="en-US" altLang="en-US" sz="1800" b="1" i="0" u="none" strike="noStrike" cap="none" normalizeH="0" baseline="0" dirty="0">
                <a:ln>
                  <a:noFill/>
                </a:ln>
                <a:solidFill>
                  <a:srgbClr val="222426"/>
                </a:solidFill>
                <a:effectLst/>
                <a:latin typeface="Roboto"/>
              </a:rPr>
              <a:t>public, static and final</a:t>
            </a:r>
            <a:r>
              <a:rPr kumimoji="0" lang="en-US" altLang="en-US" sz="1800" b="0" i="0" u="none" strike="noStrike" cap="none" normalizeH="0" baseline="0" dirty="0">
                <a:ln>
                  <a:noFill/>
                </a:ln>
                <a:solidFill>
                  <a:srgbClr val="222426"/>
                </a:solidFill>
                <a:effectLst/>
                <a:latin typeface="Roboto"/>
              </a:rPr>
              <a:t> by default.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4371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199" y="1788434"/>
            <a:ext cx="9131733" cy="3273896"/>
          </a:xfrm>
          <a:prstGeom prst="rect">
            <a:avLst/>
          </a:prstGeom>
        </p:spPr>
      </p:pic>
    </p:spTree>
    <p:extLst>
      <p:ext uri="{BB962C8B-B14F-4D97-AF65-F5344CB8AC3E}">
        <p14:creationId xmlns:p14="http://schemas.microsoft.com/office/powerpoint/2010/main" val="2090321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138" y="3546206"/>
            <a:ext cx="10515600" cy="1325563"/>
          </a:xfrm>
        </p:spPr>
        <p:txBody>
          <a:bodyPr>
            <a:normAutofit/>
          </a:bodyPr>
          <a:lstStyle/>
          <a:p>
            <a:r>
              <a:rPr lang="en-US" sz="3200" b="1" dirty="0">
                <a:solidFill>
                  <a:srgbClr val="A20000"/>
                </a:solidFill>
                <a:latin typeface="Times New Roman" panose="02020603050405020304" pitchFamily="18" charset="0"/>
                <a:ea typeface="+mn-ea"/>
                <a:cs typeface="Times New Roman" panose="02020603050405020304" pitchFamily="18" charset="0"/>
              </a:rPr>
              <a:t>This code will throw a compile time error.</a:t>
            </a:r>
          </a:p>
        </p:txBody>
      </p:sp>
      <p:pic>
        <p:nvPicPr>
          <p:cNvPr id="4" name="Content Placeholder 3"/>
          <p:cNvPicPr>
            <a:picLocks noGrp="1" noChangeAspect="1"/>
          </p:cNvPicPr>
          <p:nvPr>
            <p:ph idx="1"/>
          </p:nvPr>
        </p:nvPicPr>
        <p:blipFill>
          <a:blip r:embed="rId2"/>
          <a:stretch>
            <a:fillRect/>
          </a:stretch>
        </p:blipFill>
        <p:spPr>
          <a:xfrm>
            <a:off x="741046" y="365125"/>
            <a:ext cx="9587459" cy="2619454"/>
          </a:xfrm>
          <a:prstGeom prst="rect">
            <a:avLst/>
          </a:prstGeom>
        </p:spPr>
      </p:pic>
    </p:spTree>
    <p:extLst>
      <p:ext uri="{BB962C8B-B14F-4D97-AF65-F5344CB8AC3E}">
        <p14:creationId xmlns:p14="http://schemas.microsoft.com/office/powerpoint/2010/main" val="3184986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898594"/>
            <a:ext cx="10531033" cy="4489327"/>
          </a:xfrm>
          <a:prstGeom prst="rect">
            <a:avLst/>
          </a:prstGeom>
        </p:spPr>
      </p:pic>
    </p:spTree>
    <p:extLst>
      <p:ext uri="{BB962C8B-B14F-4D97-AF65-F5344CB8AC3E}">
        <p14:creationId xmlns:p14="http://schemas.microsoft.com/office/powerpoint/2010/main" val="495908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892915"/>
            <a:ext cx="10818614" cy="3026815"/>
          </a:xfrm>
          <a:prstGeom prst="rect">
            <a:avLst/>
          </a:prstGeom>
        </p:spPr>
      </p:pic>
    </p:spTree>
    <p:extLst>
      <p:ext uri="{BB962C8B-B14F-4D97-AF65-F5344CB8AC3E}">
        <p14:creationId xmlns:p14="http://schemas.microsoft.com/office/powerpoint/2010/main" val="2301973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56845" y="486424"/>
            <a:ext cx="9529689" cy="5602310"/>
          </a:xfrm>
          <a:prstGeom prst="rect">
            <a:avLst/>
          </a:prstGeom>
        </p:spPr>
      </p:pic>
    </p:spTree>
    <p:extLst>
      <p:ext uri="{BB962C8B-B14F-4D97-AF65-F5344CB8AC3E}">
        <p14:creationId xmlns:p14="http://schemas.microsoft.com/office/powerpoint/2010/main" val="339730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sz="6000" dirty="0">
              <a:solidFill>
                <a:srgbClr val="C00000"/>
              </a:solidFill>
              <a:latin typeface="Times New Roman" panose="02020603050405020304" pitchFamily="18" charset="0"/>
              <a:cs typeface="Times New Roman" panose="02020603050405020304" pitchFamily="18" charset="0"/>
            </a:endParaRPr>
          </a:p>
          <a:p>
            <a:pPr marL="0" indent="0" algn="ctr">
              <a:buNone/>
            </a:pPr>
            <a:r>
              <a:rPr lang="en-US" sz="6000" b="1" dirty="0">
                <a:solidFill>
                  <a:srgbClr val="C00000"/>
                </a:solidFill>
                <a:latin typeface="Times New Roman" panose="02020603050405020304" pitchFamily="18" charset="0"/>
                <a:cs typeface="Times New Roman" panose="02020603050405020304" pitchFamily="18" charset="0"/>
              </a:rPr>
              <a:t>THANKS</a:t>
            </a:r>
            <a:endParaRPr lang="en-US"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9632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5234</TotalTime>
  <Words>929</Words>
  <Application>Microsoft Office PowerPoint</Application>
  <PresentationFormat>Widescreen</PresentationFormat>
  <Paragraphs>47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Courier New</vt:lpstr>
      <vt:lpstr>Roboto</vt:lpstr>
      <vt:lpstr>Times New Roman</vt:lpstr>
      <vt:lpstr>Wingdings</vt:lpstr>
      <vt:lpstr>Office Theme</vt:lpstr>
      <vt:lpstr>Important Keywords:</vt:lpstr>
      <vt:lpstr>Abstract class declaration </vt:lpstr>
      <vt:lpstr>Abstract class Example </vt:lpstr>
      <vt:lpstr>Abstract Class  </vt:lpstr>
      <vt:lpstr>Rules </vt:lpstr>
      <vt:lpstr>Why can’t we create the object of an abstract class? </vt:lpstr>
      <vt:lpstr>Example to demonstrate that object creation of abstract class is not allowed </vt:lpstr>
      <vt:lpstr>Example of Abstract class and method </vt:lpstr>
      <vt:lpstr>Can a abstract class have a constructor ? </vt:lpstr>
      <vt:lpstr>How can you access concrete methods in abstract class ? </vt:lpstr>
      <vt:lpstr>Interface </vt:lpstr>
      <vt:lpstr>Interfaces in Java 8 (Interview Question)</vt:lpstr>
      <vt:lpstr>Example of an Interface in Java </vt:lpstr>
      <vt:lpstr>Interface and Inheritance Interface can extend the other interface. We have two interfaces Inf1 and Inf2. Inf2 extends Inf1 so If class implements the Inf2 ,it has to provide implementation of all the methods of interfaces Inf2 as well as Inf1.</vt:lpstr>
      <vt:lpstr>Key points for interface:</vt:lpstr>
      <vt:lpstr>PowerPoint Presentation</vt:lpstr>
      <vt:lpstr>This code will throw a compile time error.</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Microsoft account</dc:creator>
  <cp:lastModifiedBy>Vinay Kumar CSIT</cp:lastModifiedBy>
  <cp:revision>34</cp:revision>
  <dcterms:created xsi:type="dcterms:W3CDTF">2021-10-08T08:21:37Z</dcterms:created>
  <dcterms:modified xsi:type="dcterms:W3CDTF">2024-07-12T16:09:47Z</dcterms:modified>
</cp:coreProperties>
</file>