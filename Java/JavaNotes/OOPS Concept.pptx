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75" r:id="rId2"/>
    <p:sldId id="276" r:id="rId3"/>
    <p:sldId id="301" r:id="rId4"/>
    <p:sldId id="302" r:id="rId5"/>
    <p:sldId id="277" r:id="rId6"/>
    <p:sldId id="274" r:id="rId7"/>
    <p:sldId id="267" r:id="rId8"/>
    <p:sldId id="268" r:id="rId9"/>
    <p:sldId id="269" r:id="rId10"/>
    <p:sldId id="315" r:id="rId11"/>
    <p:sldId id="316" r:id="rId12"/>
    <p:sldId id="319" r:id="rId13"/>
    <p:sldId id="311" r:id="rId14"/>
    <p:sldId id="318" r:id="rId15"/>
    <p:sldId id="312" r:id="rId16"/>
    <p:sldId id="314" r:id="rId17"/>
    <p:sldId id="264" r:id="rId18"/>
    <p:sldId id="265" r:id="rId19"/>
    <p:sldId id="271" r:id="rId20"/>
    <p:sldId id="272" r:id="rId21"/>
    <p:sldId id="278" r:id="rId22"/>
    <p:sldId id="279" r:id="rId23"/>
    <p:sldId id="280" r:id="rId24"/>
    <p:sldId id="281" r:id="rId25"/>
    <p:sldId id="282" r:id="rId26"/>
    <p:sldId id="283" r:id="rId27"/>
    <p:sldId id="284" r:id="rId28"/>
    <p:sldId id="285"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2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AF0738-7DAD-4EDB-894F-C4795194BF38}" type="datetimeFigureOut">
              <a:rPr lang="en-US" smtClean="0"/>
              <a:t>7/12/2024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383D94-FFA5-4C03-B81C-80F974601F03}" type="slidenum">
              <a:rPr lang="en-US" smtClean="0"/>
              <a:t>‹#›</a:t>
            </a:fld>
            <a:endParaRPr lang="en-US"/>
          </a:p>
        </p:txBody>
      </p:sp>
    </p:spTree>
    <p:extLst>
      <p:ext uri="{BB962C8B-B14F-4D97-AF65-F5344CB8AC3E}">
        <p14:creationId xmlns:p14="http://schemas.microsoft.com/office/powerpoint/2010/main" val="2777324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0DF242D-9BC1-4F04-9F27-B6C742021C5D}"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95617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DF242D-9BC1-4F04-9F27-B6C742021C5D}"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20024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DF242D-9BC1-4F04-9F27-B6C742021C5D}"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163437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0DF242D-9BC1-4F04-9F27-B6C742021C5D}"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3292529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DF242D-9BC1-4F04-9F27-B6C742021C5D}" type="datetimeFigureOut">
              <a:rPr lang="en-US" smtClean="0"/>
              <a:t>7/12/2024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3495467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0DF242D-9BC1-4F04-9F27-B6C742021C5D}" type="datetimeFigureOut">
              <a:rPr lang="en-US" smtClean="0"/>
              <a:t>7/12/2024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247749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DF242D-9BC1-4F04-9F27-B6C742021C5D}" type="datetimeFigureOut">
              <a:rPr lang="en-US" smtClean="0"/>
              <a:t>7/12/2024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3747412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DF242D-9BC1-4F04-9F27-B6C742021C5D}"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2229525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DF242D-9BC1-4F04-9F27-B6C742021C5D}"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3065400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DF242D-9BC1-4F04-9F27-B6C742021C5D}"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2303919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DF242D-9BC1-4F04-9F27-B6C742021C5D}"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813E8C-A9EC-4DCF-9AEA-D26D2DCAD872}" type="slidenum">
              <a:rPr lang="en-US" smtClean="0"/>
              <a:t>‹#›</a:t>
            </a:fld>
            <a:endParaRPr lang="en-US"/>
          </a:p>
        </p:txBody>
      </p:sp>
    </p:spTree>
    <p:extLst>
      <p:ext uri="{BB962C8B-B14F-4D97-AF65-F5344CB8AC3E}">
        <p14:creationId xmlns:p14="http://schemas.microsoft.com/office/powerpoint/2010/main" val="4074605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F242D-9BC1-4F04-9F27-B6C742021C5D}" type="datetimeFigureOut">
              <a:rPr lang="en-US" smtClean="0"/>
              <a:t>7/12/2024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813E8C-A9EC-4DCF-9AEA-D26D2DCAD872}" type="slidenum">
              <a:rPr lang="en-US" smtClean="0"/>
              <a:t>‹#›</a:t>
            </a:fld>
            <a:endParaRPr lang="en-US"/>
          </a:p>
        </p:txBody>
      </p:sp>
    </p:spTree>
    <p:extLst>
      <p:ext uri="{BB962C8B-B14F-4D97-AF65-F5344CB8AC3E}">
        <p14:creationId xmlns:p14="http://schemas.microsoft.com/office/powerpoint/2010/main" val="3573775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OOPs concepts in Java</a:t>
            </a:r>
            <a:br>
              <a:rPr lang="en-US" b="1" dirty="0"/>
            </a:br>
            <a:endParaRPr lang="en-US" dirty="0"/>
          </a:p>
        </p:txBody>
      </p:sp>
      <p:sp>
        <p:nvSpPr>
          <p:cNvPr id="3" name="Content Placeholder 2"/>
          <p:cNvSpPr>
            <a:spLocks noGrp="1"/>
          </p:cNvSpPr>
          <p:nvPr>
            <p:ph idx="1"/>
          </p:nvPr>
        </p:nvSpPr>
        <p:spPr/>
        <p:txBody>
          <a:bodyPr/>
          <a:lstStyle/>
          <a:p>
            <a:pPr algn="just"/>
            <a:r>
              <a:rPr lang="en-US" dirty="0"/>
              <a:t>Object-oriented programming System(OOPs) is a programming paradigm based on the concept of “objects” that contain data and methods. </a:t>
            </a:r>
          </a:p>
          <a:p>
            <a:pPr algn="just"/>
            <a:r>
              <a:rPr lang="en-US" dirty="0"/>
              <a:t>The primary purpose of object-oriented programming is to increase the flexibility and maintainability of programs. </a:t>
            </a:r>
          </a:p>
          <a:p>
            <a:pPr algn="just"/>
            <a:r>
              <a:rPr lang="en-US" dirty="0"/>
              <a:t>Object oriented programming brings together data and its behavior(methods) in a single location(object) makes it easier to understand how a program works</a:t>
            </a:r>
          </a:p>
        </p:txBody>
      </p:sp>
    </p:spTree>
    <p:extLst>
      <p:ext uri="{BB962C8B-B14F-4D97-AF65-F5344CB8AC3E}">
        <p14:creationId xmlns:p14="http://schemas.microsoft.com/office/powerpoint/2010/main" val="711909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Characteristics of Objects:</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4" name="Content Placeholder 3"/>
          <p:cNvSpPr>
            <a:spLocks noGrp="1"/>
          </p:cNvSpPr>
          <p:nvPr>
            <p:ph sz="half" idx="2"/>
          </p:nvPr>
        </p:nvSpPr>
        <p:spPr>
          <a:xfrm>
            <a:off x="839788" y="1690688"/>
            <a:ext cx="5157787" cy="4498975"/>
          </a:xfrm>
        </p:spPr>
        <p:txBody>
          <a:bodyPr>
            <a:normAutofit fontScale="92500" lnSpcReduction="20000"/>
          </a:bodyPr>
          <a:lstStyle/>
          <a:p>
            <a:r>
              <a:rPr lang="en-US" dirty="0"/>
              <a:t>Abstraction</a:t>
            </a:r>
          </a:p>
          <a:p>
            <a:r>
              <a:rPr lang="en-US" dirty="0"/>
              <a:t>Encapsulation</a:t>
            </a:r>
          </a:p>
          <a:p>
            <a:pPr algn="just"/>
            <a:r>
              <a:rPr lang="en-US" sz="3500" b="1" dirty="0">
                <a:solidFill>
                  <a:srgbClr val="A20000"/>
                </a:solidFill>
                <a:latin typeface="Times New Roman" panose="02020603050405020304" pitchFamily="18" charset="0"/>
                <a:cs typeface="Times New Roman" panose="02020603050405020304" pitchFamily="18" charset="0"/>
              </a:rPr>
              <a:t>Abstraction</a:t>
            </a:r>
            <a:r>
              <a:rPr lang="en-US" dirty="0"/>
              <a:t>: Abstraction is a process where you show only “relevant” data and “hide” unnecessary details of an object from the user.</a:t>
            </a:r>
          </a:p>
          <a:p>
            <a:pPr algn="just"/>
            <a:r>
              <a:rPr lang="en-US" sz="3500" b="1" dirty="0">
                <a:solidFill>
                  <a:srgbClr val="A20000"/>
                </a:solidFill>
                <a:latin typeface="Times New Roman" panose="02020603050405020304" pitchFamily="18" charset="0"/>
                <a:cs typeface="Times New Roman" panose="02020603050405020304" pitchFamily="18" charset="0"/>
              </a:rPr>
              <a:t>Encapsulation:</a:t>
            </a:r>
            <a:r>
              <a:rPr lang="en-US" dirty="0"/>
              <a:t> Encapsulation simply means binding object state(fields) and </a:t>
            </a:r>
            <a:r>
              <a:rPr lang="en-US" dirty="0" err="1"/>
              <a:t>behaviour</a:t>
            </a:r>
            <a:r>
              <a:rPr lang="en-US" dirty="0"/>
              <a:t>(methods) together. If you are creating class, you are doing encapsulation.</a:t>
            </a:r>
          </a:p>
          <a:p>
            <a:endParaRPr lang="en-US" dirty="0"/>
          </a:p>
        </p:txBody>
      </p:sp>
      <p:pic>
        <p:nvPicPr>
          <p:cNvPr id="2050" name="Picture 2" descr="OOPs Concepts Object Class"/>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295500" y="2381716"/>
            <a:ext cx="4761963" cy="103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24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Inheritance</a:t>
            </a:r>
          </a:p>
        </p:txBody>
      </p:sp>
      <p:sp>
        <p:nvSpPr>
          <p:cNvPr id="3" name="Content Placeholder 2"/>
          <p:cNvSpPr>
            <a:spLocks noGrp="1"/>
          </p:cNvSpPr>
          <p:nvPr>
            <p:ph idx="1"/>
          </p:nvPr>
        </p:nvSpPr>
        <p:spPr/>
        <p:txBody>
          <a:bodyPr>
            <a:normAutofit/>
          </a:bodyPr>
          <a:lstStyle/>
          <a:p>
            <a:pPr algn="just"/>
            <a:r>
              <a:rPr lang="en-US" dirty="0"/>
              <a:t>Inheritance can be defined as the process where one class acquires the properties (methods and fields) of another. With the use of inheritance the information is made manageable in a hierarchical order.</a:t>
            </a:r>
          </a:p>
          <a:p>
            <a:pPr algn="just"/>
            <a:r>
              <a:rPr lang="en-US" dirty="0"/>
              <a:t>The class which inherits the properties of other is known as subclass (derived class, child class) and the class whose properties are inherited is known as superclass (base class, parent class).</a:t>
            </a:r>
          </a:p>
        </p:txBody>
      </p:sp>
    </p:spTree>
    <p:extLst>
      <p:ext uri="{BB962C8B-B14F-4D97-AF65-F5344CB8AC3E}">
        <p14:creationId xmlns:p14="http://schemas.microsoft.com/office/powerpoint/2010/main" val="3826075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Types of Inheritance:</a:t>
            </a:r>
            <a:br>
              <a:rPr lang="en-US" dirty="0"/>
            </a:br>
            <a:endParaRPr lang="en-US" dirty="0"/>
          </a:p>
        </p:txBody>
      </p:sp>
      <p:sp>
        <p:nvSpPr>
          <p:cNvPr id="3" name="Content Placeholder 2"/>
          <p:cNvSpPr>
            <a:spLocks noGrp="1"/>
          </p:cNvSpPr>
          <p:nvPr>
            <p:ph idx="1"/>
          </p:nvPr>
        </p:nvSpPr>
        <p:spPr>
          <a:xfrm>
            <a:off x="606381" y="1210412"/>
            <a:ext cx="10907332" cy="5486601"/>
          </a:xfrm>
        </p:spPr>
        <p:txBody>
          <a:bodyPr/>
          <a:lstStyle/>
          <a:p>
            <a:r>
              <a:rPr lang="en-US" dirty="0"/>
              <a:t>There are various types of inheritance as demonstrated below:</a:t>
            </a:r>
          </a:p>
          <a:p>
            <a:endParaRPr lang="en-US" dirty="0"/>
          </a:p>
          <a:p>
            <a:endParaRPr lang="en-US" dirty="0"/>
          </a:p>
        </p:txBody>
      </p:sp>
      <p:pic>
        <p:nvPicPr>
          <p:cNvPr id="9220" name="Picture 4" descr="Types of Inheri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635152"/>
            <a:ext cx="9915659" cy="4743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483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What is a Class</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r>
              <a:rPr lang="en-US" dirty="0"/>
              <a:t>A class can be considered as a </a:t>
            </a:r>
            <a:r>
              <a:rPr lang="en-US" sz="3600" b="1" dirty="0">
                <a:solidFill>
                  <a:srgbClr val="002060"/>
                </a:solidFill>
              </a:rPr>
              <a:t>blueprint</a:t>
            </a:r>
            <a:r>
              <a:rPr lang="en-US" dirty="0"/>
              <a:t> using which you can create as many objects as you like. </a:t>
            </a:r>
          </a:p>
        </p:txBody>
      </p:sp>
    </p:spTree>
    <p:extLst>
      <p:ext uri="{BB962C8B-B14F-4D97-AF65-F5344CB8AC3E}">
        <p14:creationId xmlns:p14="http://schemas.microsoft.com/office/powerpoint/2010/main" val="1825646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Constructors in Java</a:t>
            </a:r>
            <a:br>
              <a:rPr lang="en-US" b="1" dirty="0"/>
            </a:br>
            <a:endParaRPr lang="en-US" dirty="0"/>
          </a:p>
        </p:txBody>
      </p:sp>
      <p:sp>
        <p:nvSpPr>
          <p:cNvPr id="3" name="Content Placeholder 2"/>
          <p:cNvSpPr>
            <a:spLocks noGrp="1"/>
          </p:cNvSpPr>
          <p:nvPr>
            <p:ph idx="1"/>
          </p:nvPr>
        </p:nvSpPr>
        <p:spPr/>
        <p:txBody>
          <a:bodyPr/>
          <a:lstStyle/>
          <a:p>
            <a:r>
              <a:rPr lang="en-US" dirty="0"/>
              <a:t>Constructor is a block of code that </a:t>
            </a:r>
            <a:r>
              <a:rPr lang="en-US" b="1" dirty="0">
                <a:solidFill>
                  <a:srgbClr val="C00000"/>
                </a:solidFill>
              </a:rPr>
              <a:t>initializes the newly created object</a:t>
            </a:r>
            <a:r>
              <a:rPr lang="en-US" dirty="0"/>
              <a:t>.</a:t>
            </a:r>
          </a:p>
          <a:p>
            <a:r>
              <a:rPr lang="en-US" dirty="0"/>
              <a:t> A constructor resembles an instance method in java but it’s not a method as </a:t>
            </a:r>
            <a:r>
              <a:rPr lang="en-US" b="1" dirty="0">
                <a:solidFill>
                  <a:srgbClr val="C00000"/>
                </a:solidFill>
              </a:rPr>
              <a:t>it doesn’t have a return type</a:t>
            </a:r>
            <a:r>
              <a:rPr lang="en-US" dirty="0"/>
              <a:t>. </a:t>
            </a:r>
          </a:p>
          <a:p>
            <a:r>
              <a:rPr lang="en-US" dirty="0"/>
              <a:t>In short constructor and method are Constructor has </a:t>
            </a:r>
            <a:r>
              <a:rPr lang="en-US" b="1" dirty="0">
                <a:solidFill>
                  <a:srgbClr val="C00000"/>
                </a:solidFill>
              </a:rPr>
              <a:t>same name as the class.</a:t>
            </a:r>
            <a:endParaRPr lang="en-US" dirty="0"/>
          </a:p>
        </p:txBody>
      </p:sp>
    </p:spTree>
    <p:extLst>
      <p:ext uri="{BB962C8B-B14F-4D97-AF65-F5344CB8AC3E}">
        <p14:creationId xmlns:p14="http://schemas.microsoft.com/office/powerpoint/2010/main" val="164498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sz="3200" b="1" dirty="0">
                <a:solidFill>
                  <a:srgbClr val="A20000"/>
                </a:solidFill>
                <a:latin typeface="Times New Roman" panose="02020603050405020304" pitchFamily="18" charset="0"/>
                <a:ea typeface="+mn-ea"/>
                <a:cs typeface="Times New Roman" panose="02020603050405020304" pitchFamily="18" charset="0"/>
              </a:rPr>
              <a:t>How does a constructor work</a:t>
            </a:r>
            <a:br>
              <a:rPr lang="en-US" alt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4" name="Rectangle 1"/>
          <p:cNvSpPr>
            <a:spLocks noGrp="1" noChangeArrowheads="1"/>
          </p:cNvSpPr>
          <p:nvPr>
            <p:ph idx="1"/>
          </p:nvPr>
        </p:nvSpPr>
        <p:spPr bwMode="auto">
          <a:xfrm>
            <a:off x="838200" y="1757171"/>
            <a:ext cx="9490656" cy="36625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2400" dirty="0">
                <a:latin typeface="+mn-lt"/>
              </a:rPr>
              <a:t>To understand the working of constructor, lets take an example.</a:t>
            </a:r>
          </a:p>
          <a:p>
            <a:pPr marL="0" marR="0" lvl="0" indent="0" defTabSz="914400" rtl="0" eaLnBrk="0" fontAlgn="base" latinLnBrk="0" hangingPunct="0">
              <a:lnSpc>
                <a:spcPct val="100000"/>
              </a:lnSpc>
              <a:spcBef>
                <a:spcPct val="0"/>
              </a:spcBef>
              <a:spcAft>
                <a:spcPct val="0"/>
              </a:spcAft>
              <a:buClrTx/>
              <a:buSzTx/>
              <a:buFontTx/>
              <a:buNone/>
              <a:tabLst/>
            </a:pPr>
            <a:r>
              <a:rPr lang="en-US" altLang="en-US" sz="2400" dirty="0">
                <a:latin typeface="+mn-lt"/>
              </a:rPr>
              <a:t> lets say we have a class </a:t>
            </a:r>
            <a:r>
              <a:rPr lang="en-US" altLang="en-US" sz="2400" dirty="0" err="1">
                <a:latin typeface="+mn-lt"/>
              </a:rPr>
              <a:t>MyClass</a:t>
            </a:r>
            <a:r>
              <a:rPr lang="en-US" altLang="en-US" sz="2400" dirty="0">
                <a:latin typeface="+mn-lt"/>
              </a:rPr>
              <a:t>.</a:t>
            </a:r>
          </a:p>
          <a:p>
            <a:pPr marL="0" marR="0" lvl="0" indent="0" defTabSz="914400" rtl="0" eaLnBrk="0" fontAlgn="base" latinLnBrk="0" hangingPunct="0">
              <a:lnSpc>
                <a:spcPct val="100000"/>
              </a:lnSpc>
              <a:spcBef>
                <a:spcPct val="0"/>
              </a:spcBef>
              <a:spcAft>
                <a:spcPct val="0"/>
              </a:spcAft>
              <a:buClrTx/>
              <a:buSzTx/>
              <a:buFontTx/>
              <a:buNone/>
              <a:tabLst/>
            </a:pPr>
            <a:br>
              <a:rPr lang="en-US" altLang="en-US" sz="2400" dirty="0">
                <a:latin typeface="+mn-lt"/>
              </a:rPr>
            </a:br>
            <a:r>
              <a:rPr lang="en-US" altLang="en-US" sz="2400" dirty="0">
                <a:latin typeface="+mn-lt"/>
              </a:rPr>
              <a:t>When we create the object of MyClass like this: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mn-lt"/>
            </a:endParaRPr>
          </a:p>
          <a:p>
            <a:pPr marL="0" marR="0" lvl="0" indent="0" algn="ctr" eaLnBrk="1" fontAlgn="base" hangingPunct="1">
              <a:lnSpc>
                <a:spcPct val="100000"/>
              </a:lnSpc>
              <a:spcBef>
                <a:spcPct val="0"/>
              </a:spcBef>
              <a:spcAft>
                <a:spcPct val="0"/>
              </a:spcAft>
              <a:buClrTx/>
              <a:buSzTx/>
              <a:buFontTx/>
              <a:buNone/>
              <a:tabLst/>
            </a:pPr>
            <a:r>
              <a:rPr lang="en-US" altLang="en-US" sz="3200" b="1" dirty="0">
                <a:solidFill>
                  <a:srgbClr val="A20000"/>
                </a:solidFill>
                <a:latin typeface="Times New Roman" panose="02020603050405020304" pitchFamily="18" charset="0"/>
                <a:cs typeface="Times New Roman" panose="02020603050405020304" pitchFamily="18" charset="0"/>
              </a:rPr>
              <a:t>MyClass </a:t>
            </a:r>
            <a:r>
              <a:rPr lang="en-US" altLang="en-US" sz="3200" b="1" dirty="0" err="1">
                <a:solidFill>
                  <a:srgbClr val="A20000"/>
                </a:solidFill>
                <a:latin typeface="Times New Roman" panose="02020603050405020304" pitchFamily="18" charset="0"/>
                <a:cs typeface="Times New Roman" panose="02020603050405020304" pitchFamily="18" charset="0"/>
              </a:rPr>
              <a:t>obj</a:t>
            </a:r>
            <a:r>
              <a:rPr lang="en-US" altLang="en-US" sz="3200" b="1" dirty="0">
                <a:solidFill>
                  <a:srgbClr val="A20000"/>
                </a:solidFill>
                <a:latin typeface="Times New Roman" panose="02020603050405020304" pitchFamily="18" charset="0"/>
                <a:cs typeface="Times New Roman" panose="02020603050405020304" pitchFamily="18" charset="0"/>
              </a:rPr>
              <a:t> = new </a:t>
            </a:r>
            <a:r>
              <a:rPr lang="en-US" altLang="en-US" sz="3200" b="1" dirty="0" err="1">
                <a:solidFill>
                  <a:srgbClr val="A20000"/>
                </a:solidFill>
                <a:latin typeface="Times New Roman" panose="02020603050405020304" pitchFamily="18" charset="0"/>
                <a:cs typeface="Times New Roman" panose="02020603050405020304" pitchFamily="18" charset="0"/>
              </a:rPr>
              <a:t>MyClass</a:t>
            </a:r>
            <a:r>
              <a:rPr lang="en-US" altLang="en-US" sz="3200" b="1" dirty="0">
                <a:solidFill>
                  <a:srgbClr val="A20000"/>
                </a:solidFill>
                <a:latin typeface="Times New Roman" panose="02020603050405020304" pitchFamily="18" charset="0"/>
                <a:cs typeface="Times New Roman" panose="02020603050405020304" pitchFamily="18" charset="0"/>
              </a:rPr>
              <a:t>()</a:t>
            </a:r>
          </a:p>
          <a:p>
            <a:pPr marL="0" marR="0" lvl="0" indent="0" algn="ctr" eaLnBrk="1" fontAlgn="base" hangingPunct="1">
              <a:lnSpc>
                <a:spcPct val="100000"/>
              </a:lnSpc>
              <a:spcBef>
                <a:spcPct val="0"/>
              </a:spcBef>
              <a:spcAft>
                <a:spcPct val="0"/>
              </a:spcAft>
              <a:buClrTx/>
              <a:buSzTx/>
              <a:buFontTx/>
              <a:buNone/>
              <a:tabLst/>
            </a:pPr>
            <a:endParaRPr lang="en-US" altLang="en-US" sz="3200" b="1" dirty="0">
              <a:solidFill>
                <a:srgbClr val="A20000"/>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dirty="0">
                <a:latin typeface="+mn-lt"/>
              </a:rPr>
              <a:t>The </a:t>
            </a:r>
            <a:r>
              <a:rPr lang="en-US" altLang="en-US" sz="2400" b="1" i="1" dirty="0">
                <a:solidFill>
                  <a:srgbClr val="C00000"/>
                </a:solidFill>
                <a:latin typeface="+mn-lt"/>
              </a:rPr>
              <a:t>new</a:t>
            </a:r>
            <a:r>
              <a:rPr lang="en-US" altLang="en-US" sz="2400" dirty="0">
                <a:latin typeface="+mn-lt"/>
              </a:rPr>
              <a:t> keyword here creates the object of class MyClass and invokes the constructor to initialize this newly created object.</a:t>
            </a:r>
          </a:p>
        </p:txBody>
      </p:sp>
    </p:spTree>
    <p:extLst>
      <p:ext uri="{BB962C8B-B14F-4D97-AF65-F5344CB8AC3E}">
        <p14:creationId xmlns:p14="http://schemas.microsoft.com/office/powerpoint/2010/main" val="383288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Types of constructors:</a:t>
            </a:r>
          </a:p>
        </p:txBody>
      </p:sp>
      <p:sp>
        <p:nvSpPr>
          <p:cNvPr id="3" name="Content Placeholder 2"/>
          <p:cNvSpPr>
            <a:spLocks noGrp="1"/>
          </p:cNvSpPr>
          <p:nvPr>
            <p:ph idx="1"/>
          </p:nvPr>
        </p:nvSpPr>
        <p:spPr/>
        <p:txBody>
          <a:bodyPr/>
          <a:lstStyle/>
          <a:p>
            <a:pPr marL="514350" indent="-514350">
              <a:buFont typeface="+mj-lt"/>
              <a:buAutoNum type="arabicPeriod"/>
            </a:pPr>
            <a:r>
              <a:rPr lang="en-US" dirty="0"/>
              <a:t>No argument Constructors</a:t>
            </a:r>
          </a:p>
          <a:p>
            <a:pPr marL="514350" indent="-514350">
              <a:buFont typeface="+mj-lt"/>
              <a:buAutoNum type="arabicPeriod"/>
            </a:pPr>
            <a:r>
              <a:rPr lang="en-US" dirty="0"/>
              <a:t>Parameterized Constructors</a:t>
            </a:r>
          </a:p>
          <a:p>
            <a:pPr marL="0" indent="0">
              <a:buNone/>
            </a:pPr>
            <a:r>
              <a:rPr lang="en-US" sz="3200" b="1" dirty="0">
                <a:solidFill>
                  <a:srgbClr val="A20000"/>
                </a:solidFill>
                <a:latin typeface="Times New Roman" panose="02020603050405020304" pitchFamily="18" charset="0"/>
                <a:cs typeface="Times New Roman" panose="02020603050405020304" pitchFamily="18" charset="0"/>
              </a:rPr>
              <a:t>No argument Constructors</a:t>
            </a:r>
          </a:p>
          <a:p>
            <a:pPr algn="just"/>
            <a:r>
              <a:rPr lang="en-US" dirty="0"/>
              <a:t>As the name specifies the no argument constructors of Java does not accept any parameters instead, using these constructors the instance variables of a method will be </a:t>
            </a:r>
            <a:r>
              <a:rPr lang="en-US" b="1" dirty="0">
                <a:solidFill>
                  <a:srgbClr val="C00000"/>
                </a:solidFill>
              </a:rPr>
              <a:t>initialized with fixed values </a:t>
            </a:r>
            <a:r>
              <a:rPr lang="en-US" dirty="0"/>
              <a:t>for all objects.</a:t>
            </a:r>
          </a:p>
          <a:p>
            <a:pPr marL="0" indent="0">
              <a:buNone/>
            </a:pPr>
            <a:endParaRPr lang="en-US" dirty="0"/>
          </a:p>
        </p:txBody>
      </p:sp>
    </p:spTree>
    <p:extLst>
      <p:ext uri="{BB962C8B-B14F-4D97-AF65-F5344CB8AC3E}">
        <p14:creationId xmlns:p14="http://schemas.microsoft.com/office/powerpoint/2010/main" val="2336105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662634" cy="381850"/>
          </a:xfrm>
        </p:spPr>
        <p:txBody>
          <a:bodyPr>
            <a:no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Constructor Definition</a:t>
            </a:r>
          </a:p>
        </p:txBody>
      </p:sp>
      <p:pic>
        <p:nvPicPr>
          <p:cNvPr id="5" name="Content Placeholder 4"/>
          <p:cNvPicPr>
            <a:picLocks noGrp="1" noChangeAspect="1"/>
          </p:cNvPicPr>
          <p:nvPr>
            <p:ph idx="1"/>
          </p:nvPr>
        </p:nvPicPr>
        <p:blipFill>
          <a:blip r:embed="rId2"/>
          <a:stretch>
            <a:fillRect/>
          </a:stretch>
        </p:blipFill>
        <p:spPr>
          <a:xfrm>
            <a:off x="838200" y="905076"/>
            <a:ext cx="10831740" cy="5585876"/>
          </a:xfrm>
          <a:prstGeom prst="rect">
            <a:avLst/>
          </a:prstGeom>
        </p:spPr>
      </p:pic>
    </p:spTree>
    <p:extLst>
      <p:ext uri="{BB962C8B-B14F-4D97-AF65-F5344CB8AC3E}">
        <p14:creationId xmlns:p14="http://schemas.microsoft.com/office/powerpoint/2010/main" val="242397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Polymorphism:</a:t>
            </a:r>
          </a:p>
        </p:txBody>
      </p:sp>
      <p:sp>
        <p:nvSpPr>
          <p:cNvPr id="3" name="Content Placeholder 2"/>
          <p:cNvSpPr>
            <a:spLocks noGrp="1"/>
          </p:cNvSpPr>
          <p:nvPr>
            <p:ph idx="1"/>
          </p:nvPr>
        </p:nvSpPr>
        <p:spPr/>
        <p:txBody>
          <a:bodyPr>
            <a:normAutofit/>
          </a:bodyPr>
          <a:lstStyle/>
          <a:p>
            <a:pPr marL="0" indent="0">
              <a:buNone/>
            </a:pPr>
            <a:r>
              <a:rPr lang="en-US" sz="3200" b="1" dirty="0">
                <a:solidFill>
                  <a:srgbClr val="A20000"/>
                </a:solidFill>
                <a:latin typeface="Times New Roman" panose="02020603050405020304" pitchFamily="18" charset="0"/>
                <a:cs typeface="Times New Roman" panose="02020603050405020304" pitchFamily="18" charset="0"/>
              </a:rPr>
              <a:t>Poly           +        Morph</a:t>
            </a:r>
          </a:p>
          <a:p>
            <a:pPr marL="0" indent="0">
              <a:buNone/>
            </a:pPr>
            <a:r>
              <a:rPr lang="en-US" sz="3200" b="1" dirty="0">
                <a:solidFill>
                  <a:srgbClr val="A20000"/>
                </a:solidFill>
                <a:latin typeface="Times New Roman" panose="02020603050405020304" pitchFamily="18" charset="0"/>
                <a:cs typeface="Times New Roman" panose="02020603050405020304" pitchFamily="18" charset="0"/>
              </a:rPr>
              <a:t>(many )                (form)</a:t>
            </a:r>
          </a:p>
          <a:p>
            <a:pPr marL="0" indent="0">
              <a:buNone/>
            </a:pPr>
            <a:endParaRPr lang="en-US" sz="3200" b="1" dirty="0">
              <a:solidFill>
                <a:srgbClr val="A20000"/>
              </a:solidFill>
              <a:latin typeface="Times New Roman" panose="02020603050405020304" pitchFamily="18" charset="0"/>
              <a:cs typeface="Times New Roman" panose="02020603050405020304" pitchFamily="18" charset="0"/>
            </a:endParaRPr>
          </a:p>
          <a:p>
            <a:pPr marL="0" indent="0">
              <a:buNone/>
            </a:pPr>
            <a:r>
              <a:rPr lang="en-US" sz="3200" b="1" dirty="0">
                <a:solidFill>
                  <a:srgbClr val="A20000"/>
                </a:solidFill>
                <a:latin typeface="Times New Roman" panose="02020603050405020304" pitchFamily="18" charset="0"/>
                <a:cs typeface="Times New Roman" panose="02020603050405020304" pitchFamily="18" charset="0"/>
              </a:rPr>
              <a:t>2+ 3</a:t>
            </a:r>
          </a:p>
          <a:p>
            <a:pPr marL="0" indent="0">
              <a:buNone/>
            </a:pPr>
            <a:r>
              <a:rPr lang="en-US" sz="3200" b="1" dirty="0">
                <a:solidFill>
                  <a:srgbClr val="A20000"/>
                </a:solidFill>
                <a:latin typeface="Times New Roman" panose="02020603050405020304" pitchFamily="18" charset="0"/>
                <a:cs typeface="Times New Roman" panose="02020603050405020304" pitchFamily="18" charset="0"/>
              </a:rPr>
              <a:t>2.5 +4.5</a:t>
            </a:r>
          </a:p>
          <a:p>
            <a:pPr marL="0" indent="0">
              <a:buNone/>
            </a:pPr>
            <a:r>
              <a:rPr lang="en-US" sz="3200" b="1" dirty="0" err="1">
                <a:solidFill>
                  <a:srgbClr val="A20000"/>
                </a:solidFill>
                <a:latin typeface="Times New Roman" panose="02020603050405020304" pitchFamily="18" charset="0"/>
                <a:cs typeface="Times New Roman" panose="02020603050405020304" pitchFamily="18" charset="0"/>
              </a:rPr>
              <a:t>a+b</a:t>
            </a:r>
            <a:endParaRPr lang="en-US" sz="3200" b="1" dirty="0">
              <a:solidFill>
                <a:srgbClr val="A2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48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Types of Polymorphism:</a:t>
            </a:r>
          </a:p>
        </p:txBody>
      </p:sp>
      <p:sp>
        <p:nvSpPr>
          <p:cNvPr id="3" name="Content Placeholder 2"/>
          <p:cNvSpPr>
            <a:spLocks noGrp="1"/>
          </p:cNvSpPr>
          <p:nvPr>
            <p:ph idx="1"/>
          </p:nvPr>
        </p:nvSpPr>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Runtime Polymorphism   (Method Overriding)</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Compile Time Polymorphism (Method Overloading)</a:t>
            </a:r>
          </a:p>
        </p:txBody>
      </p:sp>
    </p:spTree>
    <p:extLst>
      <p:ext uri="{BB962C8B-B14F-4D97-AF65-F5344CB8AC3E}">
        <p14:creationId xmlns:p14="http://schemas.microsoft.com/office/powerpoint/2010/main" val="282456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06711" y="311236"/>
            <a:ext cx="9719114" cy="6546764"/>
          </a:xfrm>
          <a:prstGeom prst="rect">
            <a:avLst/>
          </a:prstGeom>
        </p:spPr>
      </p:pic>
    </p:spTree>
    <p:extLst>
      <p:ext uri="{BB962C8B-B14F-4D97-AF65-F5344CB8AC3E}">
        <p14:creationId xmlns:p14="http://schemas.microsoft.com/office/powerpoint/2010/main" val="1912629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2645" y="468157"/>
            <a:ext cx="10422228" cy="652306"/>
          </a:xfrm>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Polymorphism (Method Overriding)</a:t>
            </a:r>
          </a:p>
        </p:txBody>
      </p:sp>
      <p:pic>
        <p:nvPicPr>
          <p:cNvPr id="4" name="Content Placeholder 3"/>
          <p:cNvPicPr>
            <a:picLocks noGrp="1" noChangeAspect="1"/>
          </p:cNvPicPr>
          <p:nvPr>
            <p:ph idx="1"/>
          </p:nvPr>
        </p:nvPicPr>
        <p:blipFill>
          <a:blip r:embed="rId2"/>
          <a:stretch>
            <a:fillRect/>
          </a:stretch>
        </p:blipFill>
        <p:spPr>
          <a:xfrm>
            <a:off x="931572" y="1120463"/>
            <a:ext cx="10328856" cy="5417109"/>
          </a:xfrm>
          <a:prstGeom prst="rect">
            <a:avLst/>
          </a:prstGeom>
        </p:spPr>
      </p:pic>
    </p:spTree>
    <p:extLst>
      <p:ext uri="{BB962C8B-B14F-4D97-AF65-F5344CB8AC3E}">
        <p14:creationId xmlns:p14="http://schemas.microsoft.com/office/powerpoint/2010/main" val="471480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Important</a:t>
            </a:r>
            <a:r>
              <a:rPr lang="en-US" b="1" dirty="0">
                <a:solidFill>
                  <a:srgbClr val="C00000"/>
                </a:solidFill>
              </a:rPr>
              <a:t> </a:t>
            </a:r>
            <a:r>
              <a:rPr lang="en-US" sz="3200" b="1" dirty="0">
                <a:solidFill>
                  <a:srgbClr val="A20000"/>
                </a:solidFill>
                <a:latin typeface="Times New Roman" panose="02020603050405020304" pitchFamily="18" charset="0"/>
                <a:ea typeface="+mn-ea"/>
                <a:cs typeface="Times New Roman" panose="02020603050405020304" pitchFamily="18" charset="0"/>
              </a:rPr>
              <a:t>Note</a:t>
            </a:r>
          </a:p>
        </p:txBody>
      </p:sp>
      <p:sp>
        <p:nvSpPr>
          <p:cNvPr id="3" name="Content Placeholder 2"/>
          <p:cNvSpPr>
            <a:spLocks noGrp="1"/>
          </p:cNvSpPr>
          <p:nvPr>
            <p:ph idx="1"/>
          </p:nvPr>
        </p:nvSpPr>
        <p:spPr/>
        <p:txBody>
          <a:bodyPr/>
          <a:lstStyle/>
          <a:p>
            <a:r>
              <a:rPr lang="en-US" dirty="0"/>
              <a:t>In this example, you can see that even though </a:t>
            </a:r>
            <a:r>
              <a:rPr lang="en-US" b="1" dirty="0"/>
              <a:t>b</a:t>
            </a:r>
            <a:r>
              <a:rPr lang="en-US" dirty="0"/>
              <a:t> is a type of Animal it runs the move method in the Dog class. The reason for this is: </a:t>
            </a:r>
            <a:r>
              <a:rPr lang="en-US" b="1" dirty="0">
                <a:solidFill>
                  <a:srgbClr val="C00000"/>
                </a:solidFill>
              </a:rPr>
              <a:t>In compile time, the check is made on the reference type.</a:t>
            </a:r>
            <a:r>
              <a:rPr lang="en-US" dirty="0"/>
              <a:t> However</a:t>
            </a:r>
            <a:r>
              <a:rPr lang="en-US" b="1" dirty="0">
                <a:solidFill>
                  <a:srgbClr val="C00000"/>
                </a:solidFill>
              </a:rPr>
              <a:t>, in the runtime, JVM figures out the object type and would run the method that belongs to that particular object.</a:t>
            </a:r>
          </a:p>
        </p:txBody>
      </p:sp>
    </p:spTree>
    <p:extLst>
      <p:ext uri="{BB962C8B-B14F-4D97-AF65-F5344CB8AC3E}">
        <p14:creationId xmlns:p14="http://schemas.microsoft.com/office/powerpoint/2010/main" val="1700104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450761" y="270456"/>
            <a:ext cx="11256135" cy="5906507"/>
          </a:xfrm>
          <a:prstGeom prst="rect">
            <a:avLst/>
          </a:prstGeom>
        </p:spPr>
      </p:pic>
    </p:spTree>
    <p:extLst>
      <p:ext uri="{BB962C8B-B14F-4D97-AF65-F5344CB8AC3E}">
        <p14:creationId xmlns:p14="http://schemas.microsoft.com/office/powerpoint/2010/main" val="3964991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967175" cy="729579"/>
          </a:xfrm>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760926" y="1201291"/>
            <a:ext cx="10598240" cy="5006919"/>
          </a:xfrm>
          <a:prstGeom prst="rect">
            <a:avLst/>
          </a:prstGeom>
        </p:spPr>
      </p:pic>
    </p:spTree>
    <p:extLst>
      <p:ext uri="{BB962C8B-B14F-4D97-AF65-F5344CB8AC3E}">
        <p14:creationId xmlns:p14="http://schemas.microsoft.com/office/powerpoint/2010/main" val="3429276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98491" y="309094"/>
            <a:ext cx="10753858" cy="5792756"/>
          </a:xfrm>
          <a:prstGeom prst="rect">
            <a:avLst/>
          </a:prstGeom>
        </p:spPr>
      </p:pic>
    </p:spTree>
    <p:extLst>
      <p:ext uri="{BB962C8B-B14F-4D97-AF65-F5344CB8AC3E}">
        <p14:creationId xmlns:p14="http://schemas.microsoft.com/office/powerpoint/2010/main" val="1232858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48047" y="581908"/>
            <a:ext cx="11495917" cy="4634035"/>
          </a:xfrm>
          <a:prstGeom prst="rect">
            <a:avLst/>
          </a:prstGeom>
        </p:spPr>
      </p:pic>
    </p:spTree>
    <p:extLst>
      <p:ext uri="{BB962C8B-B14F-4D97-AF65-F5344CB8AC3E}">
        <p14:creationId xmlns:p14="http://schemas.microsoft.com/office/powerpoint/2010/main" val="361100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The “super” keyword</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t>It is used to </a:t>
            </a:r>
            <a:r>
              <a:rPr lang="en-US" b="1" dirty="0"/>
              <a:t>differentiate the members</a:t>
            </a:r>
            <a:r>
              <a:rPr lang="en-US" dirty="0"/>
              <a:t> of superclass from the members of subclass, if they have same names.</a:t>
            </a:r>
          </a:p>
          <a:p>
            <a:pPr marL="0" indent="0" algn="just">
              <a:buNone/>
            </a:pPr>
            <a:endParaRPr lang="en-US" dirty="0"/>
          </a:p>
          <a:p>
            <a:pPr algn="just"/>
            <a:r>
              <a:rPr lang="en-US" dirty="0"/>
              <a:t>It is used to </a:t>
            </a:r>
            <a:r>
              <a:rPr lang="en-US" b="1" dirty="0"/>
              <a:t>invoke the superclass</a:t>
            </a:r>
            <a:r>
              <a:rPr lang="en-US" dirty="0"/>
              <a:t> constructor from subclass.</a:t>
            </a:r>
          </a:p>
          <a:p>
            <a:pPr algn="just"/>
            <a:endParaRPr lang="en-US" dirty="0"/>
          </a:p>
          <a:p>
            <a:pPr algn="just"/>
            <a:r>
              <a:rPr lang="en-US" dirty="0"/>
              <a:t>If a class is inheriting the properties of another class. And if the members of the superclass have the names same as the sub class, to differentiate these variables we use </a:t>
            </a:r>
            <a:r>
              <a:rPr lang="en-US"/>
              <a:t>super keyword.</a:t>
            </a:r>
            <a:endParaRPr lang="en-US" dirty="0"/>
          </a:p>
          <a:p>
            <a:pPr marL="0" indent="0">
              <a:buNone/>
            </a:pPr>
            <a:endParaRPr lang="en-US" dirty="0"/>
          </a:p>
        </p:txBody>
      </p:sp>
    </p:spTree>
    <p:extLst>
      <p:ext uri="{BB962C8B-B14F-4D97-AF65-F5344CB8AC3E}">
        <p14:creationId xmlns:p14="http://schemas.microsoft.com/office/powerpoint/2010/main" val="2882981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1005624" y="1779322"/>
            <a:ext cx="6451244" cy="107721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super.variable</a:t>
            </a:r>
            <a:endParaRPr kumimoji="0" lang="en-US" altLang="en-US" sz="3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en-US" altLang="en-US" sz="3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super.method</a:t>
            </a:r>
            <a:r>
              <a:rPr kumimoji="0" lang="en-US" altLang="en-US" sz="3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en-US" altLang="en-US" sz="3200" b="1" i="0" u="none" strike="noStrike" cap="none" normalizeH="0" baseline="0" dirty="0">
                <a:ln>
                  <a:noFill/>
                </a:ln>
                <a:solidFill>
                  <a:schemeClr val="tx1"/>
                </a:solidFill>
                <a:effectLst/>
              </a:rPr>
              <a:t> </a:t>
            </a:r>
            <a:endParaRPr kumimoji="0" lang="en-US" altLang="en-US" sz="4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3624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Method Overloading in Java</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t>Method Overloading is a feature that allows a class to have</a:t>
            </a:r>
            <a:r>
              <a:rPr lang="en-US" dirty="0">
                <a:solidFill>
                  <a:srgbClr val="C00000"/>
                </a:solidFill>
              </a:rPr>
              <a:t> more than one method having the same name, if their argument lists are different. </a:t>
            </a:r>
          </a:p>
        </p:txBody>
      </p:sp>
    </p:spTree>
    <p:extLst>
      <p:ext uri="{BB962C8B-B14F-4D97-AF65-F5344CB8AC3E}">
        <p14:creationId xmlns:p14="http://schemas.microsoft.com/office/powerpoint/2010/main" val="2968606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2807" y="1432335"/>
            <a:ext cx="10893686" cy="4839676"/>
          </a:xfrm>
          <a:prstGeom prst="rect">
            <a:avLst/>
          </a:prstGeom>
        </p:spPr>
      </p:pic>
      <p:sp>
        <p:nvSpPr>
          <p:cNvPr id="5" name="Rectangle 4"/>
          <p:cNvSpPr/>
          <p:nvPr/>
        </p:nvSpPr>
        <p:spPr>
          <a:xfrm>
            <a:off x="462807" y="114768"/>
            <a:ext cx="6002541" cy="584775"/>
          </a:xfrm>
          <a:prstGeom prst="rect">
            <a:avLst/>
          </a:prstGeom>
        </p:spPr>
        <p:txBody>
          <a:bodyPr wrap="none">
            <a:spAutoFit/>
          </a:bodyPr>
          <a:lstStyle/>
          <a:p>
            <a:r>
              <a:rPr lang="en-US" sz="3200" b="1" dirty="0">
                <a:solidFill>
                  <a:srgbClr val="A20000"/>
                </a:solidFill>
                <a:latin typeface="Times New Roman" panose="02020603050405020304" pitchFamily="18" charset="0"/>
                <a:cs typeface="Times New Roman" panose="02020603050405020304" pitchFamily="18" charset="0"/>
              </a:rPr>
              <a:t>Three ways to overload a method</a:t>
            </a:r>
          </a:p>
        </p:txBody>
      </p:sp>
    </p:spTree>
    <p:extLst>
      <p:ext uri="{BB962C8B-B14F-4D97-AF65-F5344CB8AC3E}">
        <p14:creationId xmlns:p14="http://schemas.microsoft.com/office/powerpoint/2010/main" val="2946124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88714" y="140345"/>
            <a:ext cx="8506801" cy="6421408"/>
          </a:xfrm>
          <a:prstGeom prst="rect">
            <a:avLst/>
          </a:prstGeom>
        </p:spPr>
      </p:pic>
    </p:spTree>
    <p:extLst>
      <p:ext uri="{BB962C8B-B14F-4D97-AF65-F5344CB8AC3E}">
        <p14:creationId xmlns:p14="http://schemas.microsoft.com/office/powerpoint/2010/main" val="266256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6864" y="177128"/>
            <a:ext cx="10454268" cy="6429734"/>
          </a:xfrm>
          <a:prstGeom prst="rect">
            <a:avLst/>
          </a:prstGeom>
        </p:spPr>
      </p:pic>
    </p:spTree>
    <p:extLst>
      <p:ext uri="{BB962C8B-B14F-4D97-AF65-F5344CB8AC3E}">
        <p14:creationId xmlns:p14="http://schemas.microsoft.com/office/powerpoint/2010/main" val="1005872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28229" y="386366"/>
            <a:ext cx="10161235" cy="6320976"/>
          </a:xfrm>
          <a:prstGeom prst="rect">
            <a:avLst/>
          </a:prstGeom>
        </p:spPr>
      </p:pic>
    </p:spTree>
    <p:extLst>
      <p:ext uri="{BB962C8B-B14F-4D97-AF65-F5344CB8AC3E}">
        <p14:creationId xmlns:p14="http://schemas.microsoft.com/office/powerpoint/2010/main" val="110268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3398" y="164249"/>
            <a:ext cx="11413498" cy="6416685"/>
          </a:xfrm>
          <a:prstGeom prst="rect">
            <a:avLst/>
          </a:prstGeom>
        </p:spPr>
      </p:pic>
    </p:spTree>
    <p:extLst>
      <p:ext uri="{BB962C8B-B14F-4D97-AF65-F5344CB8AC3E}">
        <p14:creationId xmlns:p14="http://schemas.microsoft.com/office/powerpoint/2010/main" val="229663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94617" y="776172"/>
            <a:ext cx="11354639" cy="3937496"/>
          </a:xfrm>
          <a:prstGeom prst="rect">
            <a:avLst/>
          </a:prstGeom>
        </p:spPr>
      </p:pic>
    </p:spTree>
    <p:extLst>
      <p:ext uri="{BB962C8B-B14F-4D97-AF65-F5344CB8AC3E}">
        <p14:creationId xmlns:p14="http://schemas.microsoft.com/office/powerpoint/2010/main" val="2172101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66670" y="335936"/>
            <a:ext cx="10352547" cy="6090622"/>
          </a:xfrm>
          <a:prstGeom prst="rect">
            <a:avLst/>
          </a:prstGeom>
        </p:spPr>
      </p:pic>
    </p:spTree>
    <p:extLst>
      <p:ext uri="{BB962C8B-B14F-4D97-AF65-F5344CB8AC3E}">
        <p14:creationId xmlns:p14="http://schemas.microsoft.com/office/powerpoint/2010/main" val="2867296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Static Class, Block, Methods and Variables</a:t>
            </a:r>
            <a:br>
              <a:rPr lang="en-US" b="1" dirty="0"/>
            </a:br>
            <a:endParaRPr lang="en-US" dirty="0"/>
          </a:p>
        </p:txBody>
      </p:sp>
      <p:sp>
        <p:nvSpPr>
          <p:cNvPr id="3" name="Content Placeholder 2"/>
          <p:cNvSpPr>
            <a:spLocks noGrp="1"/>
          </p:cNvSpPr>
          <p:nvPr>
            <p:ph idx="1"/>
          </p:nvPr>
        </p:nvSpPr>
        <p:spPr/>
        <p:txBody>
          <a:bodyPr/>
          <a:lstStyle/>
          <a:p>
            <a:pPr algn="just"/>
            <a:r>
              <a:rPr lang="en-US" sz="2400" dirty="0"/>
              <a:t>Static keyword can be used with class, variable, method and block. Static members belong to the class instead of a specific instance, this means if you make a member static, you can access it without object</a:t>
            </a:r>
            <a:r>
              <a:rPr lang="en-US" dirty="0"/>
              <a:t>. </a:t>
            </a:r>
          </a:p>
          <a:p>
            <a:endParaRPr lang="en-US" dirty="0"/>
          </a:p>
        </p:txBody>
      </p:sp>
      <p:pic>
        <p:nvPicPr>
          <p:cNvPr id="8" name="Picture 7"/>
          <p:cNvPicPr>
            <a:picLocks noChangeAspect="1"/>
          </p:cNvPicPr>
          <p:nvPr/>
        </p:nvPicPr>
        <p:blipFill>
          <a:blip r:embed="rId2"/>
          <a:stretch>
            <a:fillRect/>
          </a:stretch>
        </p:blipFill>
        <p:spPr>
          <a:xfrm>
            <a:off x="1082072" y="3199323"/>
            <a:ext cx="9997547" cy="2570412"/>
          </a:xfrm>
          <a:prstGeom prst="rect">
            <a:avLst/>
          </a:prstGeom>
        </p:spPr>
      </p:pic>
    </p:spTree>
    <p:extLst>
      <p:ext uri="{BB962C8B-B14F-4D97-AF65-F5344CB8AC3E}">
        <p14:creationId xmlns:p14="http://schemas.microsoft.com/office/powerpoint/2010/main" val="2688010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98020" y="357432"/>
            <a:ext cx="10961145" cy="6098065"/>
          </a:xfrm>
          <a:prstGeom prst="rect">
            <a:avLst/>
          </a:prstGeom>
        </p:spPr>
      </p:pic>
    </p:spTree>
    <p:extLst>
      <p:ext uri="{BB962C8B-B14F-4D97-AF65-F5344CB8AC3E}">
        <p14:creationId xmlns:p14="http://schemas.microsoft.com/office/powerpoint/2010/main" val="2958710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9585" y="439893"/>
            <a:ext cx="11039221" cy="2831342"/>
          </a:xfrm>
          <a:prstGeom prst="rect">
            <a:avLst/>
          </a:prstGeom>
        </p:spPr>
      </p:pic>
    </p:spTree>
    <p:extLst>
      <p:ext uri="{BB962C8B-B14F-4D97-AF65-F5344CB8AC3E}">
        <p14:creationId xmlns:p14="http://schemas.microsoft.com/office/powerpoint/2010/main" val="330362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93854" y="254401"/>
            <a:ext cx="9664546" cy="6365049"/>
          </a:xfrm>
          <a:prstGeom prst="rect">
            <a:avLst/>
          </a:prstGeom>
        </p:spPr>
      </p:pic>
    </p:spTree>
    <p:extLst>
      <p:ext uri="{BB962C8B-B14F-4D97-AF65-F5344CB8AC3E}">
        <p14:creationId xmlns:p14="http://schemas.microsoft.com/office/powerpoint/2010/main" val="2681131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06380" y="802045"/>
            <a:ext cx="10677645" cy="3396468"/>
          </a:xfrm>
          <a:prstGeom prst="rect">
            <a:avLst/>
          </a:prstGeom>
        </p:spPr>
      </p:pic>
    </p:spTree>
    <p:extLst>
      <p:ext uri="{BB962C8B-B14F-4D97-AF65-F5344CB8AC3E}">
        <p14:creationId xmlns:p14="http://schemas.microsoft.com/office/powerpoint/2010/main" val="2405285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Multiple Static Block:</a:t>
            </a:r>
          </a:p>
        </p:txBody>
      </p:sp>
      <p:pic>
        <p:nvPicPr>
          <p:cNvPr id="4" name="Content Placeholder 3"/>
          <p:cNvPicPr>
            <a:picLocks noGrp="1" noChangeAspect="1"/>
          </p:cNvPicPr>
          <p:nvPr>
            <p:ph idx="1"/>
          </p:nvPr>
        </p:nvPicPr>
        <p:blipFill>
          <a:blip r:embed="rId2"/>
          <a:stretch>
            <a:fillRect/>
          </a:stretch>
        </p:blipFill>
        <p:spPr>
          <a:xfrm>
            <a:off x="838201" y="1825625"/>
            <a:ext cx="10263388" cy="4351338"/>
          </a:xfrm>
          <a:prstGeom prst="rect">
            <a:avLst/>
          </a:prstGeom>
        </p:spPr>
      </p:pic>
    </p:spTree>
    <p:extLst>
      <p:ext uri="{BB962C8B-B14F-4D97-AF65-F5344CB8AC3E}">
        <p14:creationId xmlns:p14="http://schemas.microsoft.com/office/powerpoint/2010/main" val="2550611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Output (Multiple Static Block)</a:t>
            </a:r>
          </a:p>
        </p:txBody>
      </p:sp>
      <p:pic>
        <p:nvPicPr>
          <p:cNvPr id="4" name="Content Placeholder 3"/>
          <p:cNvPicPr>
            <a:picLocks noGrp="1" noChangeAspect="1"/>
          </p:cNvPicPr>
          <p:nvPr>
            <p:ph idx="1"/>
          </p:nvPr>
        </p:nvPicPr>
        <p:blipFill>
          <a:blip r:embed="rId2"/>
          <a:stretch>
            <a:fillRect/>
          </a:stretch>
        </p:blipFill>
        <p:spPr>
          <a:xfrm>
            <a:off x="838200" y="1896750"/>
            <a:ext cx="11181941" cy="3203284"/>
          </a:xfrm>
          <a:prstGeom prst="rect">
            <a:avLst/>
          </a:prstGeom>
        </p:spPr>
      </p:pic>
    </p:spTree>
    <p:extLst>
      <p:ext uri="{BB962C8B-B14F-4D97-AF65-F5344CB8AC3E}">
        <p14:creationId xmlns:p14="http://schemas.microsoft.com/office/powerpoint/2010/main" val="34033166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Static Variable:</a:t>
            </a:r>
          </a:p>
        </p:txBody>
      </p:sp>
      <p:sp>
        <p:nvSpPr>
          <p:cNvPr id="5" name="Content Placeholder 4"/>
          <p:cNvSpPr>
            <a:spLocks noGrp="1"/>
          </p:cNvSpPr>
          <p:nvPr>
            <p:ph idx="1"/>
          </p:nvPr>
        </p:nvSpPr>
        <p:spPr/>
        <p:txBody>
          <a:bodyPr/>
          <a:lstStyle/>
          <a:p>
            <a:endParaRPr lang="en-US" dirty="0"/>
          </a:p>
        </p:txBody>
      </p:sp>
      <p:pic>
        <p:nvPicPr>
          <p:cNvPr id="6" name="Picture 5"/>
          <p:cNvPicPr>
            <a:picLocks noChangeAspect="1"/>
          </p:cNvPicPr>
          <p:nvPr/>
        </p:nvPicPr>
        <p:blipFill>
          <a:blip r:embed="rId2"/>
          <a:stretch>
            <a:fillRect/>
          </a:stretch>
        </p:blipFill>
        <p:spPr>
          <a:xfrm>
            <a:off x="838199" y="1825625"/>
            <a:ext cx="9850967" cy="3956989"/>
          </a:xfrm>
          <a:prstGeom prst="rect">
            <a:avLst/>
          </a:prstGeom>
        </p:spPr>
      </p:pic>
    </p:spTree>
    <p:extLst>
      <p:ext uri="{BB962C8B-B14F-4D97-AF65-F5344CB8AC3E}">
        <p14:creationId xmlns:p14="http://schemas.microsoft.com/office/powerpoint/2010/main" val="1856831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6924" y="183856"/>
            <a:ext cx="12063202" cy="5907851"/>
          </a:xfrm>
          <a:prstGeom prst="rect">
            <a:avLst/>
          </a:prstGeom>
        </p:spPr>
      </p:pic>
    </p:spTree>
    <p:extLst>
      <p:ext uri="{BB962C8B-B14F-4D97-AF65-F5344CB8AC3E}">
        <p14:creationId xmlns:p14="http://schemas.microsoft.com/office/powerpoint/2010/main" val="1221726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Static variables are shared among all objects</a:t>
            </a:r>
            <a:r>
              <a:rPr lang="en-US" dirty="0"/>
              <a:t>:</a:t>
            </a:r>
          </a:p>
        </p:txBody>
      </p:sp>
      <p:pic>
        <p:nvPicPr>
          <p:cNvPr id="4" name="Content Placeholder 3"/>
          <p:cNvPicPr>
            <a:picLocks noGrp="1" noChangeAspect="1"/>
          </p:cNvPicPr>
          <p:nvPr>
            <p:ph idx="1"/>
          </p:nvPr>
        </p:nvPicPr>
        <p:blipFill>
          <a:blip r:embed="rId2"/>
          <a:stretch>
            <a:fillRect/>
          </a:stretch>
        </p:blipFill>
        <p:spPr>
          <a:xfrm>
            <a:off x="838200" y="1865727"/>
            <a:ext cx="9310753" cy="2603241"/>
          </a:xfrm>
          <a:prstGeom prst="rect">
            <a:avLst/>
          </a:prstGeom>
        </p:spPr>
      </p:pic>
    </p:spTree>
    <p:extLst>
      <p:ext uri="{BB962C8B-B14F-4D97-AF65-F5344CB8AC3E}">
        <p14:creationId xmlns:p14="http://schemas.microsoft.com/office/powerpoint/2010/main" val="1057766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0788" y="276829"/>
            <a:ext cx="10407313" cy="6185528"/>
          </a:xfrm>
          <a:prstGeom prst="rect">
            <a:avLst/>
          </a:prstGeom>
        </p:spPr>
      </p:pic>
    </p:spTree>
    <p:extLst>
      <p:ext uri="{BB962C8B-B14F-4D97-AF65-F5344CB8AC3E}">
        <p14:creationId xmlns:p14="http://schemas.microsoft.com/office/powerpoint/2010/main" val="10704837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35864" y="674570"/>
            <a:ext cx="10594888" cy="4747436"/>
          </a:xfrm>
          <a:prstGeom prst="rect">
            <a:avLst/>
          </a:prstGeom>
        </p:spPr>
      </p:pic>
    </p:spTree>
    <p:extLst>
      <p:ext uri="{BB962C8B-B14F-4D97-AF65-F5344CB8AC3E}">
        <p14:creationId xmlns:p14="http://schemas.microsoft.com/office/powerpoint/2010/main" val="1904630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sz="9600" b="1" dirty="0">
              <a:solidFill>
                <a:srgbClr val="C00000"/>
              </a:solidFill>
              <a:latin typeface="Times New Roman" panose="02020603050405020304" pitchFamily="18" charset="0"/>
              <a:cs typeface="Times New Roman" panose="02020603050405020304" pitchFamily="18" charset="0"/>
            </a:endParaRPr>
          </a:p>
          <a:p>
            <a:pPr marL="0" indent="0" algn="ctr">
              <a:buNone/>
            </a:pPr>
            <a:r>
              <a:rPr lang="en-US" sz="9600" b="1" dirty="0">
                <a:solidFill>
                  <a:srgbClr val="C00000"/>
                </a:solidFill>
                <a:latin typeface="Times New Roman" panose="02020603050405020304" pitchFamily="18" charset="0"/>
                <a:cs typeface="Times New Roman" panose="02020603050405020304" pitchFamily="18" charset="0"/>
              </a:rPr>
              <a:t>THANKS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7FBA0D5-7D5A-48E1-8F8C-C7CE70F89C56}" type="slidenum">
              <a:rPr lang="en-US" smtClean="0"/>
              <a:t>41</a:t>
            </a:fld>
            <a:endParaRPr lang="en-US"/>
          </a:p>
        </p:txBody>
      </p:sp>
    </p:spTree>
    <p:extLst>
      <p:ext uri="{BB962C8B-B14F-4D97-AF65-F5344CB8AC3E}">
        <p14:creationId xmlns:p14="http://schemas.microsoft.com/office/powerpoint/2010/main" val="2992536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1479</TotalTime>
  <Words>725</Words>
  <Application>Microsoft Office PowerPoint</Application>
  <PresentationFormat>Widescreen</PresentationFormat>
  <Paragraphs>67</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Courier New</vt:lpstr>
      <vt:lpstr>Times New Roman</vt:lpstr>
      <vt:lpstr>Office Theme</vt:lpstr>
      <vt:lpstr>OOPs concepts in Java </vt:lpstr>
      <vt:lpstr>Characteristics of Objects: </vt:lpstr>
      <vt:lpstr>Inheritance</vt:lpstr>
      <vt:lpstr>Types of Inheritance: </vt:lpstr>
      <vt:lpstr>What is a Class </vt:lpstr>
      <vt:lpstr>Constructors in Java </vt:lpstr>
      <vt:lpstr>How does a constructor work </vt:lpstr>
      <vt:lpstr>Types of constructors:</vt:lpstr>
      <vt:lpstr>Constructor Definition</vt:lpstr>
      <vt:lpstr>Polymorphism:</vt:lpstr>
      <vt:lpstr>Types of Polymorphism:</vt:lpstr>
      <vt:lpstr>PowerPoint Presentation</vt:lpstr>
      <vt:lpstr>Polymorphism (Method Overriding)</vt:lpstr>
      <vt:lpstr>Important Note</vt:lpstr>
      <vt:lpstr>PowerPoint Presentation</vt:lpstr>
      <vt:lpstr>PowerPoint Presentation</vt:lpstr>
      <vt:lpstr>PowerPoint Presentation</vt:lpstr>
      <vt:lpstr>PowerPoint Presentation</vt:lpstr>
      <vt:lpstr>The “super” keyword </vt:lpstr>
      <vt:lpstr>PowerPoint Presentation</vt:lpstr>
      <vt:lpstr>Method Overloading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Static Class, Block, Methods and Variables </vt:lpstr>
      <vt:lpstr>PowerPoint Presentation</vt:lpstr>
      <vt:lpstr>PowerPoint Presentation</vt:lpstr>
      <vt:lpstr>PowerPoint Presentation</vt:lpstr>
      <vt:lpstr>PowerPoint Presentation</vt:lpstr>
      <vt:lpstr>Multiple Static Block:</vt:lpstr>
      <vt:lpstr>Output (Multiple Static Block)</vt:lpstr>
      <vt:lpstr>Static Variable:</vt:lpstr>
      <vt:lpstr>PowerPoint Presentation</vt:lpstr>
      <vt:lpstr>Static variables are shared among all objects: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Polymophism</dc:title>
  <dc:creator>Microsoft account</dc:creator>
  <cp:lastModifiedBy>Vinay Kumar CSIT</cp:lastModifiedBy>
  <cp:revision>42</cp:revision>
  <dcterms:created xsi:type="dcterms:W3CDTF">2021-10-03T14:14:59Z</dcterms:created>
  <dcterms:modified xsi:type="dcterms:W3CDTF">2024-07-12T16:12:13Z</dcterms:modified>
</cp:coreProperties>
</file>