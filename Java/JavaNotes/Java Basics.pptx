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60" r:id="rId5"/>
    <p:sldId id="261" r:id="rId6"/>
    <p:sldId id="263" r:id="rId7"/>
    <p:sldId id="264" r:id="rId8"/>
    <p:sldId id="265" r:id="rId9"/>
    <p:sldId id="266" r:id="rId10"/>
    <p:sldId id="267" r:id="rId11"/>
    <p:sldId id="269" r:id="rId12"/>
    <p:sldId id="270" r:id="rId13"/>
    <p:sldId id="271" r:id="rId14"/>
    <p:sldId id="272" r:id="rId15"/>
    <p:sldId id="273" r:id="rId16"/>
    <p:sldId id="275" r:id="rId17"/>
    <p:sldId id="276" r:id="rId18"/>
    <p:sldId id="277" r:id="rId19"/>
    <p:sldId id="278" r:id="rId20"/>
    <p:sldId id="279" r:id="rId21"/>
    <p:sldId id="280" r:id="rId22"/>
    <p:sldId id="281" r:id="rId23"/>
    <p:sldId id="28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5B943E-4986-415C-8566-6BD15CEA66B1}" type="datetimeFigureOut">
              <a:rPr lang="en-US" smtClean="0"/>
              <a:t>7/12/2024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AF27E7-09DE-4DA5-8474-A12A8D36E2E8}" type="slidenum">
              <a:rPr lang="en-US" smtClean="0"/>
              <a:t>‹#›</a:t>
            </a:fld>
            <a:endParaRPr lang="en-US"/>
          </a:p>
        </p:txBody>
      </p:sp>
    </p:spTree>
    <p:extLst>
      <p:ext uri="{BB962C8B-B14F-4D97-AF65-F5344CB8AC3E}">
        <p14:creationId xmlns:p14="http://schemas.microsoft.com/office/powerpoint/2010/main" val="2417929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AF27E7-09DE-4DA5-8474-A12A8D36E2E8}" type="slidenum">
              <a:rPr lang="en-US" smtClean="0"/>
              <a:t>5</a:t>
            </a:fld>
            <a:endParaRPr lang="en-US"/>
          </a:p>
        </p:txBody>
      </p:sp>
    </p:spTree>
    <p:extLst>
      <p:ext uri="{BB962C8B-B14F-4D97-AF65-F5344CB8AC3E}">
        <p14:creationId xmlns:p14="http://schemas.microsoft.com/office/powerpoint/2010/main" val="90050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AF27E7-09DE-4DA5-8474-A12A8D36E2E8}" type="slidenum">
              <a:rPr lang="en-US" smtClean="0"/>
              <a:t>7</a:t>
            </a:fld>
            <a:endParaRPr lang="en-US"/>
          </a:p>
        </p:txBody>
      </p:sp>
    </p:spTree>
    <p:extLst>
      <p:ext uri="{BB962C8B-B14F-4D97-AF65-F5344CB8AC3E}">
        <p14:creationId xmlns:p14="http://schemas.microsoft.com/office/powerpoint/2010/main" val="719196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2AF27E7-09DE-4DA5-8474-A12A8D36E2E8}" type="slidenum">
              <a:rPr lang="en-US" smtClean="0"/>
              <a:t>9</a:t>
            </a:fld>
            <a:endParaRPr lang="en-US"/>
          </a:p>
        </p:txBody>
      </p:sp>
    </p:spTree>
    <p:extLst>
      <p:ext uri="{BB962C8B-B14F-4D97-AF65-F5344CB8AC3E}">
        <p14:creationId xmlns:p14="http://schemas.microsoft.com/office/powerpoint/2010/main" val="2217181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958123B-2766-4081-8334-BB8DB95B4EB9}"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3630309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90C57D-70E1-4984-8B62-5225AF33FBF3}"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2487810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851BA5-1BA1-4329-B0DF-42BC34FD586C}"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501492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44EC62-7F38-4525-BAC1-777D983817F3}" type="datetime1">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2119761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D821E0-C14E-433B-BA7F-7CCA5AEB0B10}" type="datetime1">
              <a:rPr lang="en-US" smtClean="0"/>
              <a:t>7/12/2024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212798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C4D6908-B703-43E5-8F91-4AEF317E98AE}" type="datetime1">
              <a:rPr lang="en-US" smtClean="0"/>
              <a:t>7/12/2024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1269303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159A6A-B2C1-4CFE-B1B5-E507499940FF}" type="datetime1">
              <a:rPr lang="en-US" smtClean="0"/>
              <a:t>7/12/2024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4046732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4BF825-22F8-40F8-B103-09E4834F4D23}" type="datetime1">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2775397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3EDCA6-57AD-4FE1-9D09-9AC94F867DE7}" type="datetime1">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474428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08DFA9-09AF-4F44-AF36-449E5411D73F}"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965176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7076E5-84BB-4351-8E70-4B28DD78E986}" type="datetime1">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FBA0D5-7D5A-48E1-8F8C-C7CE70F89C56}" type="slidenum">
              <a:rPr lang="en-US" smtClean="0"/>
              <a:t>‹#›</a:t>
            </a:fld>
            <a:endParaRPr lang="en-US"/>
          </a:p>
        </p:txBody>
      </p:sp>
    </p:spTree>
    <p:extLst>
      <p:ext uri="{BB962C8B-B14F-4D97-AF65-F5344CB8AC3E}">
        <p14:creationId xmlns:p14="http://schemas.microsoft.com/office/powerpoint/2010/main" val="1184938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5827C-4978-4804-8582-897378261CD4}" type="datetime1">
              <a:rPr lang="en-US" smtClean="0"/>
              <a:t>7/12/2024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FBA0D5-7D5A-48E1-8F8C-C7CE70F89C56}" type="slidenum">
              <a:rPr lang="en-US" smtClean="0"/>
              <a:t>‹#›</a:t>
            </a:fld>
            <a:endParaRPr lang="en-US"/>
          </a:p>
        </p:txBody>
      </p:sp>
    </p:spTree>
    <p:extLst>
      <p:ext uri="{BB962C8B-B14F-4D97-AF65-F5344CB8AC3E}">
        <p14:creationId xmlns:p14="http://schemas.microsoft.com/office/powerpoint/2010/main" val="2373690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beginnersbook.com/2013/05/encapsulation-in-java/" TargetMode="External"/><Relationship Id="rId2" Type="http://schemas.openxmlformats.org/officeDocument/2006/relationships/hyperlink" Target="https://beginnersbook.com/2013/03/oops-in-java-encapsulation-inheritance-polymorphism-abstraction/" TargetMode="External"/><Relationship Id="rId1" Type="http://schemas.openxmlformats.org/officeDocument/2006/relationships/slideLayout" Target="../slideLayouts/slideLayout2.xml"/><Relationship Id="rId5" Type="http://schemas.openxmlformats.org/officeDocument/2006/relationships/hyperlink" Target="https://beginnersbook.com/2013/03/polymorphism-in-java/" TargetMode="External"/><Relationship Id="rId4" Type="http://schemas.openxmlformats.org/officeDocument/2006/relationships/hyperlink" Target="https://beginnersbook.com/2013/05/java-inheritance-types/"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beginnersbook.com/2013/05/java-multiple-inheritanc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beginnersbook.com/2013/03/multithreading-in-jav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Main Features of JAVA</a:t>
            </a:r>
            <a:br>
              <a:rPr lang="en-US" b="1" dirty="0"/>
            </a:br>
            <a:endParaRPr lang="en-US" dirty="0"/>
          </a:p>
        </p:txBody>
      </p:sp>
      <p:sp>
        <p:nvSpPr>
          <p:cNvPr id="3" name="Content Placeholder 2"/>
          <p:cNvSpPr>
            <a:spLocks noGrp="1"/>
          </p:cNvSpPr>
          <p:nvPr>
            <p:ph idx="1"/>
          </p:nvPr>
        </p:nvSpPr>
        <p:spPr>
          <a:xfrm>
            <a:off x="838200" y="1426380"/>
            <a:ext cx="10515600" cy="4351338"/>
          </a:xfrm>
        </p:spPr>
        <p:txBody>
          <a:bodyPr>
            <a:normAutofit lnSpcReduction="10000"/>
          </a:bodyPr>
          <a:lstStyle/>
          <a:p>
            <a:pPr marL="0" indent="0">
              <a:buNone/>
            </a:pPr>
            <a:r>
              <a:rPr lang="en-US" sz="3200" b="1" dirty="0">
                <a:solidFill>
                  <a:srgbClr val="A20000"/>
                </a:solidFill>
                <a:latin typeface="Times New Roman" panose="02020603050405020304" pitchFamily="18" charset="0"/>
                <a:cs typeface="Times New Roman" panose="02020603050405020304" pitchFamily="18" charset="0"/>
              </a:rPr>
              <a:t>Platform independent language</a:t>
            </a:r>
          </a:p>
          <a:p>
            <a:pPr algn="just">
              <a:buFont typeface="Wingdings" panose="05000000000000000000" pitchFamily="2" charset="2"/>
              <a:buChar char="Ø"/>
            </a:pPr>
            <a:r>
              <a:rPr lang="en-US" dirty="0"/>
              <a:t>Compiler(</a:t>
            </a:r>
            <a:r>
              <a:rPr lang="en-US" dirty="0" err="1"/>
              <a:t>javac</a:t>
            </a:r>
            <a:r>
              <a:rPr lang="en-US" dirty="0"/>
              <a:t>) converts source code (.java file) to the byte code(.class file).</a:t>
            </a:r>
          </a:p>
          <a:p>
            <a:pPr algn="just">
              <a:buFont typeface="Wingdings" panose="05000000000000000000" pitchFamily="2" charset="2"/>
              <a:buChar char="Ø"/>
            </a:pPr>
            <a:r>
              <a:rPr lang="en-US" dirty="0"/>
              <a:t>JVM executes the bytecode produced by compiler. This byte code can run on any platform such as Windows, Linux, Mac OS etc. Which means a program that is compiled on windows can run on Linux and vice-versa. </a:t>
            </a:r>
          </a:p>
          <a:p>
            <a:pPr algn="just">
              <a:buFont typeface="Wingdings" panose="05000000000000000000" pitchFamily="2" charset="2"/>
              <a:buChar char="Ø"/>
            </a:pPr>
            <a:r>
              <a:rPr lang="en-US" dirty="0"/>
              <a:t>Each operating system has different JVM, however the output they produce after execution of bytecode is same across all operating systems. That is why we call java as platform independent language.</a:t>
            </a:r>
          </a:p>
        </p:txBody>
      </p:sp>
      <p:sp>
        <p:nvSpPr>
          <p:cNvPr id="5" name="Slide Number Placeholder 4"/>
          <p:cNvSpPr>
            <a:spLocks noGrp="1"/>
          </p:cNvSpPr>
          <p:nvPr>
            <p:ph type="sldNum" sz="quarter" idx="12"/>
          </p:nvPr>
        </p:nvSpPr>
        <p:spPr/>
        <p:txBody>
          <a:bodyPr/>
          <a:lstStyle/>
          <a:p>
            <a:fld id="{C7FBA0D5-7D5A-48E1-8F8C-C7CE70F89C56}" type="slidenum">
              <a:rPr lang="en-US" smtClean="0"/>
              <a:t>1</a:t>
            </a:fld>
            <a:endParaRPr lang="en-US"/>
          </a:p>
        </p:txBody>
      </p:sp>
    </p:spTree>
    <p:extLst>
      <p:ext uri="{BB962C8B-B14F-4D97-AF65-F5344CB8AC3E}">
        <p14:creationId xmlns:p14="http://schemas.microsoft.com/office/powerpoint/2010/main" val="2883969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Object Oriented language</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t>4 main concepts of Object Oriented programming are:</a:t>
            </a:r>
          </a:p>
          <a:p>
            <a:r>
              <a:rPr lang="en-US" sz="3200" b="1" dirty="0">
                <a:solidFill>
                  <a:srgbClr val="C00000"/>
                </a:solidFill>
                <a:latin typeface="Times New Roman" panose="02020603050405020304" pitchFamily="18" charset="0"/>
                <a:cs typeface="Times New Roman" panose="02020603050405020304" pitchFamily="18" charset="0"/>
                <a:hlinkClick r:id="rId2" tooltip="OOPs in Java- Encapsulation, Inheritance, Polymorphism, Abstraction"/>
              </a:rPr>
              <a:t>Abstraction</a:t>
            </a:r>
            <a:endParaRPr lang="en-US" sz="3200" b="1" dirty="0">
              <a:solidFill>
                <a:srgbClr val="C00000"/>
              </a:solidFill>
              <a:latin typeface="Times New Roman" panose="02020603050405020304" pitchFamily="18" charset="0"/>
              <a:cs typeface="Times New Roman" panose="02020603050405020304" pitchFamily="18" charset="0"/>
            </a:endParaRPr>
          </a:p>
          <a:p>
            <a:r>
              <a:rPr lang="en-US" sz="3200" b="1" dirty="0">
                <a:solidFill>
                  <a:srgbClr val="C00000"/>
                </a:solidFill>
                <a:latin typeface="Times New Roman" panose="02020603050405020304" pitchFamily="18" charset="0"/>
                <a:cs typeface="Times New Roman" panose="02020603050405020304" pitchFamily="18" charset="0"/>
                <a:hlinkClick r:id="rId3" tooltip="Encapsulation in Java with example"/>
              </a:rPr>
              <a:t>Encapsulation</a:t>
            </a:r>
            <a:endParaRPr lang="en-US" sz="3200" b="1" dirty="0">
              <a:solidFill>
                <a:srgbClr val="C00000"/>
              </a:solidFill>
              <a:latin typeface="Times New Roman" panose="02020603050405020304" pitchFamily="18" charset="0"/>
              <a:cs typeface="Times New Roman" panose="02020603050405020304" pitchFamily="18" charset="0"/>
            </a:endParaRPr>
          </a:p>
          <a:p>
            <a:r>
              <a:rPr lang="en-US" sz="3200" b="1" dirty="0">
                <a:solidFill>
                  <a:srgbClr val="C00000"/>
                </a:solidFill>
                <a:latin typeface="Times New Roman" panose="02020603050405020304" pitchFamily="18" charset="0"/>
                <a:cs typeface="Times New Roman" panose="02020603050405020304" pitchFamily="18" charset="0"/>
                <a:hlinkClick r:id="rId4" tooltip="Types of inheritance in Java: Single,Multiple,Multilevel &amp; Hybrid"/>
              </a:rPr>
              <a:t>Inheritance</a:t>
            </a:r>
            <a:endParaRPr lang="en-US" sz="3200" b="1" dirty="0">
              <a:solidFill>
                <a:srgbClr val="C00000"/>
              </a:solidFill>
              <a:latin typeface="Times New Roman" panose="02020603050405020304" pitchFamily="18" charset="0"/>
              <a:cs typeface="Times New Roman" panose="02020603050405020304" pitchFamily="18" charset="0"/>
            </a:endParaRPr>
          </a:p>
          <a:p>
            <a:r>
              <a:rPr lang="en-US" sz="3200" b="1" dirty="0">
                <a:solidFill>
                  <a:srgbClr val="C00000"/>
                </a:solidFill>
                <a:latin typeface="Times New Roman" panose="02020603050405020304" pitchFamily="18" charset="0"/>
                <a:cs typeface="Times New Roman" panose="02020603050405020304" pitchFamily="18" charset="0"/>
                <a:hlinkClick r:id="rId5" tooltip="Polymorphism in Java – Method Overloading and Overriding"/>
              </a:rPr>
              <a:t>Polymorphism</a:t>
            </a:r>
            <a:endParaRPr lang="en-US" sz="3200" b="1" dirty="0">
              <a:solidFill>
                <a:srgbClr val="C00000"/>
              </a:solidFill>
              <a:latin typeface="Times New Roman" panose="02020603050405020304" pitchFamily="18" charset="0"/>
              <a:cs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lstStyle/>
          <a:p>
            <a:fld id="{C7FBA0D5-7D5A-48E1-8F8C-C7CE70F89C56}" type="slidenum">
              <a:rPr lang="en-US" smtClean="0"/>
              <a:t>2</a:t>
            </a:fld>
            <a:endParaRPr lang="en-US"/>
          </a:p>
        </p:txBody>
      </p:sp>
    </p:spTree>
    <p:extLst>
      <p:ext uri="{BB962C8B-B14F-4D97-AF65-F5344CB8AC3E}">
        <p14:creationId xmlns:p14="http://schemas.microsoft.com/office/powerpoint/2010/main" val="40773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Simple</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r>
              <a:rPr lang="en-US" dirty="0"/>
              <a:t>Java is considered as one of simple language because it does not have complex features like:</a:t>
            </a:r>
          </a:p>
          <a:p>
            <a:pPr>
              <a:spcBef>
                <a:spcPct val="0"/>
              </a:spcBef>
              <a:buFont typeface="Wingdings" panose="05000000000000000000" pitchFamily="2" charset="2"/>
              <a:buChar char="Ø"/>
            </a:pPr>
            <a:r>
              <a:rPr lang="en-US" sz="3200" b="1" dirty="0">
                <a:solidFill>
                  <a:srgbClr val="A20000"/>
                </a:solidFill>
                <a:latin typeface="Times New Roman" panose="02020603050405020304" pitchFamily="18" charset="0"/>
                <a:cs typeface="Times New Roman" panose="02020603050405020304" pitchFamily="18" charset="0"/>
              </a:rPr>
              <a:t>Operator overloading</a:t>
            </a:r>
          </a:p>
          <a:p>
            <a:pPr>
              <a:spcBef>
                <a:spcPct val="0"/>
              </a:spcBef>
              <a:buFont typeface="Wingdings" panose="05000000000000000000" pitchFamily="2" charset="2"/>
              <a:buChar char="Ø"/>
            </a:pPr>
            <a:r>
              <a:rPr lang="en-US" sz="3200" b="1" dirty="0">
                <a:solidFill>
                  <a:srgbClr val="A20000"/>
                </a:solidFill>
                <a:latin typeface="Times New Roman" panose="02020603050405020304" pitchFamily="18" charset="0"/>
                <a:cs typeface="Times New Roman" panose="02020603050405020304" pitchFamily="18" charset="0"/>
                <a:hlinkClick r:id="rId2"/>
              </a:rPr>
              <a:t>Multiple inheritance</a:t>
            </a:r>
            <a:r>
              <a:rPr lang="en-US" sz="3200" b="1" dirty="0">
                <a:solidFill>
                  <a:srgbClr val="A20000"/>
                </a:solidFill>
                <a:latin typeface="Times New Roman" panose="02020603050405020304" pitchFamily="18" charset="0"/>
                <a:cs typeface="Times New Roman" panose="02020603050405020304" pitchFamily="18" charset="0"/>
              </a:rPr>
              <a:t> </a:t>
            </a:r>
          </a:p>
          <a:p>
            <a:pPr>
              <a:spcBef>
                <a:spcPct val="0"/>
              </a:spcBef>
              <a:buFont typeface="Wingdings" panose="05000000000000000000" pitchFamily="2" charset="2"/>
              <a:buChar char="Ø"/>
            </a:pPr>
            <a:r>
              <a:rPr lang="en-US" sz="3200" b="1" dirty="0">
                <a:solidFill>
                  <a:srgbClr val="A20000"/>
                </a:solidFill>
                <a:latin typeface="Times New Roman" panose="02020603050405020304" pitchFamily="18" charset="0"/>
                <a:cs typeface="Times New Roman" panose="02020603050405020304" pitchFamily="18" charset="0"/>
              </a:rPr>
              <a:t>Pointers</a:t>
            </a:r>
          </a:p>
          <a:p>
            <a:pPr>
              <a:spcBef>
                <a:spcPct val="0"/>
              </a:spcBef>
              <a:buFont typeface="Wingdings" panose="05000000000000000000" pitchFamily="2" charset="2"/>
              <a:buChar char="Ø"/>
            </a:pPr>
            <a:r>
              <a:rPr lang="en-US" sz="3200" b="1" dirty="0">
                <a:solidFill>
                  <a:srgbClr val="A20000"/>
                </a:solidFill>
                <a:latin typeface="Times New Roman" panose="02020603050405020304" pitchFamily="18" charset="0"/>
                <a:cs typeface="Times New Roman" panose="02020603050405020304" pitchFamily="18" charset="0"/>
              </a:rPr>
              <a:t>Explicit memory allocation</a:t>
            </a:r>
          </a:p>
          <a:p>
            <a:pPr marL="0" indent="0">
              <a:buNone/>
            </a:pPr>
            <a:endParaRPr lang="en-US" sz="3200" b="1" dirty="0">
              <a:solidFill>
                <a:srgbClr val="A2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C7FBA0D5-7D5A-48E1-8F8C-C7CE70F89C56}" type="slidenum">
              <a:rPr lang="en-US" smtClean="0"/>
              <a:t>3</a:t>
            </a:fld>
            <a:endParaRPr lang="en-US"/>
          </a:p>
        </p:txBody>
      </p:sp>
    </p:spTree>
    <p:extLst>
      <p:ext uri="{BB962C8B-B14F-4D97-AF65-F5344CB8AC3E}">
        <p14:creationId xmlns:p14="http://schemas.microsoft.com/office/powerpoint/2010/main" val="398439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Robust Language</a:t>
            </a:r>
            <a:br>
              <a:rPr lang="en-US" b="1" dirty="0"/>
            </a:br>
            <a:endParaRPr lang="en-US" dirty="0"/>
          </a:p>
        </p:txBody>
      </p:sp>
      <p:sp>
        <p:nvSpPr>
          <p:cNvPr id="3" name="Content Placeholder 2"/>
          <p:cNvSpPr>
            <a:spLocks noGrp="1"/>
          </p:cNvSpPr>
          <p:nvPr>
            <p:ph idx="1"/>
          </p:nvPr>
        </p:nvSpPr>
        <p:spPr/>
        <p:txBody>
          <a:bodyPr/>
          <a:lstStyle/>
          <a:p>
            <a:r>
              <a:rPr lang="en-US" dirty="0"/>
              <a:t>Robust means reliable. Java programming language is developed in a way that puts a lot of emphasis on early checking for possible errors, that’s why java compiler is able to detect </a:t>
            </a:r>
          </a:p>
          <a:p>
            <a:r>
              <a:rPr lang="en-US" dirty="0"/>
              <a:t>The main features of java that makes it robust are:</a:t>
            </a:r>
          </a:p>
          <a:p>
            <a:r>
              <a:rPr lang="en-US" dirty="0"/>
              <a:t> </a:t>
            </a:r>
            <a:r>
              <a:rPr lang="en-US" sz="3200" b="1" dirty="0">
                <a:solidFill>
                  <a:srgbClr val="C00000"/>
                </a:solidFill>
              </a:rPr>
              <a:t>Garbage Collection</a:t>
            </a:r>
            <a:endParaRPr lang="en-US" dirty="0"/>
          </a:p>
          <a:p>
            <a:r>
              <a:rPr lang="en-US" dirty="0"/>
              <a:t> </a:t>
            </a:r>
            <a:r>
              <a:rPr lang="en-US" sz="3200" b="1" dirty="0">
                <a:solidFill>
                  <a:srgbClr val="C00000"/>
                </a:solidFill>
              </a:rPr>
              <a:t>Exception Handling </a:t>
            </a:r>
          </a:p>
          <a:p>
            <a:r>
              <a:rPr lang="en-US" sz="3200" b="1" dirty="0">
                <a:solidFill>
                  <a:srgbClr val="C00000"/>
                </a:solidFill>
              </a:rPr>
              <a:t>Memory Allocation</a:t>
            </a:r>
            <a:r>
              <a:rPr lang="en-US" dirty="0"/>
              <a:t>.</a:t>
            </a:r>
          </a:p>
          <a:p>
            <a:endParaRPr lang="en-US" dirty="0"/>
          </a:p>
        </p:txBody>
      </p:sp>
      <p:sp>
        <p:nvSpPr>
          <p:cNvPr id="5" name="Slide Number Placeholder 4"/>
          <p:cNvSpPr>
            <a:spLocks noGrp="1"/>
          </p:cNvSpPr>
          <p:nvPr>
            <p:ph type="sldNum" sz="quarter" idx="12"/>
          </p:nvPr>
        </p:nvSpPr>
        <p:spPr/>
        <p:txBody>
          <a:bodyPr/>
          <a:lstStyle/>
          <a:p>
            <a:fld id="{C7FBA0D5-7D5A-48E1-8F8C-C7CE70F89C56}" type="slidenum">
              <a:rPr lang="en-US" smtClean="0"/>
              <a:t>4</a:t>
            </a:fld>
            <a:endParaRPr lang="en-US"/>
          </a:p>
        </p:txBody>
      </p:sp>
    </p:spTree>
    <p:extLst>
      <p:ext uri="{BB962C8B-B14F-4D97-AF65-F5344CB8AC3E}">
        <p14:creationId xmlns:p14="http://schemas.microsoft.com/office/powerpoint/2010/main" val="3415325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a:solidFill>
                  <a:srgbClr val="A20000"/>
                </a:solidFill>
                <a:latin typeface="Times New Roman" panose="02020603050405020304" pitchFamily="18" charset="0"/>
                <a:cs typeface="Times New Roman" panose="02020603050405020304" pitchFamily="18" charset="0"/>
              </a:rPr>
              <a:t>Secure</a:t>
            </a:r>
            <a:br>
              <a:rPr lang="en-US" b="1" dirty="0">
                <a:solidFill>
                  <a:srgbClr val="A20000"/>
                </a:solidFill>
                <a:latin typeface="Times New Roman" panose="02020603050405020304" pitchFamily="18" charset="0"/>
                <a:cs typeface="Times New Roman" panose="02020603050405020304" pitchFamily="18" charset="0"/>
              </a:rPr>
            </a:br>
            <a:r>
              <a:rPr lang="en-US" dirty="0"/>
              <a:t>We don’t have pointers and we cannot access out of bound arrays (you get </a:t>
            </a:r>
            <a:r>
              <a:rPr lang="en-US" dirty="0" err="1"/>
              <a:t>ArrayIndexOutOfBoundsException</a:t>
            </a:r>
            <a:r>
              <a:rPr lang="en-US" dirty="0"/>
              <a:t> if you try to do so) in java.</a:t>
            </a:r>
          </a:p>
          <a:p>
            <a:pPr marL="0" indent="0">
              <a:buNone/>
            </a:pPr>
            <a:endParaRPr lang="en-US" dirty="0"/>
          </a:p>
          <a:p>
            <a:pPr algn="just"/>
            <a:r>
              <a:rPr lang="en-US" sz="3200" b="1" dirty="0">
                <a:solidFill>
                  <a:srgbClr val="A20000"/>
                </a:solidFill>
                <a:latin typeface="Times New Roman" panose="02020603050405020304" pitchFamily="18" charset="0"/>
                <a:cs typeface="Times New Roman" panose="02020603050405020304" pitchFamily="18" charset="0"/>
              </a:rPr>
              <a:t>Java is distributed: </a:t>
            </a:r>
            <a:r>
              <a:rPr lang="en-US" dirty="0"/>
              <a:t>The java programs can be distributed on more than one systems that are connected to each other using internet connection. Objects on one JVM (java virtual machine) can execute procedures on a remote JVM</a:t>
            </a:r>
            <a:r>
              <a:rPr lang="en-US" sz="3200" dirty="0"/>
              <a:t>.</a:t>
            </a:r>
          </a:p>
          <a:p>
            <a:pPr marL="0" indent="0">
              <a:buNone/>
            </a:pPr>
            <a:br>
              <a:rPr lang="en-US" sz="3200" b="1" dirty="0">
                <a:solidFill>
                  <a:srgbClr val="A20000"/>
                </a:solidFill>
                <a:latin typeface="Times New Roman" panose="02020603050405020304" pitchFamily="18" charset="0"/>
                <a:cs typeface="Times New Roman" panose="02020603050405020304" pitchFamily="18" charset="0"/>
              </a:rPr>
            </a:br>
            <a:r>
              <a:rPr lang="en-US" dirty="0"/>
              <a:t> </a:t>
            </a:r>
          </a:p>
        </p:txBody>
      </p:sp>
      <p:sp>
        <p:nvSpPr>
          <p:cNvPr id="4" name="Slide Number Placeholder 3"/>
          <p:cNvSpPr>
            <a:spLocks noGrp="1"/>
          </p:cNvSpPr>
          <p:nvPr>
            <p:ph type="sldNum" sz="quarter" idx="12"/>
          </p:nvPr>
        </p:nvSpPr>
        <p:spPr/>
        <p:txBody>
          <a:bodyPr/>
          <a:lstStyle/>
          <a:p>
            <a:fld id="{C7FBA0D5-7D5A-48E1-8F8C-C7CE70F89C56}" type="slidenum">
              <a:rPr lang="en-US" smtClean="0"/>
              <a:t>5</a:t>
            </a:fld>
            <a:endParaRPr lang="en-US"/>
          </a:p>
        </p:txBody>
      </p:sp>
    </p:spTree>
    <p:extLst>
      <p:ext uri="{BB962C8B-B14F-4D97-AF65-F5344CB8AC3E}">
        <p14:creationId xmlns:p14="http://schemas.microsoft.com/office/powerpoint/2010/main" val="1605448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b="1" dirty="0"/>
            </a:br>
            <a:endParaRPr lang="en-US" dirty="0"/>
          </a:p>
        </p:txBody>
      </p:sp>
      <p:sp>
        <p:nvSpPr>
          <p:cNvPr id="3" name="Content Placeholder 2"/>
          <p:cNvSpPr>
            <a:spLocks noGrp="1"/>
          </p:cNvSpPr>
          <p:nvPr>
            <p:ph idx="1"/>
          </p:nvPr>
        </p:nvSpPr>
        <p:spPr/>
        <p:txBody>
          <a:bodyPr/>
          <a:lstStyle/>
          <a:p>
            <a:pPr marL="0" indent="0">
              <a:buNone/>
            </a:pPr>
            <a:r>
              <a:rPr lang="en-US" sz="3200" b="1" dirty="0">
                <a:solidFill>
                  <a:srgbClr val="A20000"/>
                </a:solidFill>
                <a:latin typeface="Times New Roman" panose="02020603050405020304" pitchFamily="18" charset="0"/>
                <a:cs typeface="Times New Roman" panose="02020603050405020304" pitchFamily="18" charset="0"/>
              </a:rPr>
              <a:t>Multithreading :</a:t>
            </a:r>
            <a:r>
              <a:rPr lang="en-US" dirty="0"/>
              <a:t>Java supports </a:t>
            </a:r>
            <a:r>
              <a:rPr lang="en-US" b="1" dirty="0">
                <a:hlinkClick r:id="rId2" tooltip="Multithreading in java with examples"/>
              </a:rPr>
              <a:t>multithreading</a:t>
            </a:r>
            <a:r>
              <a:rPr lang="en-US" dirty="0"/>
              <a:t>. Multithreading is a Java feature that allows concurrent execution of two or more parts of a program for maximum </a:t>
            </a:r>
            <a:r>
              <a:rPr lang="en-US" dirty="0" err="1"/>
              <a:t>utilisation</a:t>
            </a:r>
            <a:r>
              <a:rPr lang="en-US" dirty="0"/>
              <a:t> of CPU.</a:t>
            </a:r>
          </a:p>
          <a:p>
            <a:pPr marL="0" indent="0">
              <a:buNone/>
            </a:pPr>
            <a:r>
              <a:rPr lang="en-US" sz="3200" b="1" dirty="0">
                <a:solidFill>
                  <a:srgbClr val="A20000"/>
                </a:solidFill>
                <a:latin typeface="Times New Roman" panose="02020603050405020304" pitchFamily="18" charset="0"/>
                <a:cs typeface="Times New Roman" panose="02020603050405020304" pitchFamily="18" charset="0"/>
              </a:rPr>
              <a:t>Portable</a:t>
            </a:r>
          </a:p>
          <a:p>
            <a:r>
              <a:rPr lang="en-US" dirty="0"/>
              <a:t>As discussed above, java code that is written on one machine can run on another machine. The platform independent byte code can be carried to any platform for execution that makes java code portable.</a:t>
            </a:r>
          </a:p>
          <a:p>
            <a:endParaRPr lang="en-US" dirty="0"/>
          </a:p>
          <a:p>
            <a:endParaRPr lang="en-US" dirty="0"/>
          </a:p>
        </p:txBody>
      </p:sp>
      <p:sp>
        <p:nvSpPr>
          <p:cNvPr id="5" name="Slide Number Placeholder 4"/>
          <p:cNvSpPr>
            <a:spLocks noGrp="1"/>
          </p:cNvSpPr>
          <p:nvPr>
            <p:ph type="sldNum" sz="quarter" idx="12"/>
          </p:nvPr>
        </p:nvSpPr>
        <p:spPr/>
        <p:txBody>
          <a:bodyPr/>
          <a:lstStyle/>
          <a:p>
            <a:fld id="{C7FBA0D5-7D5A-48E1-8F8C-C7CE70F89C56}" type="slidenum">
              <a:rPr lang="en-US" smtClean="0"/>
              <a:t>6</a:t>
            </a:fld>
            <a:endParaRPr lang="en-US"/>
          </a:p>
        </p:txBody>
      </p:sp>
    </p:spTree>
    <p:extLst>
      <p:ext uri="{BB962C8B-B14F-4D97-AF65-F5344CB8AC3E}">
        <p14:creationId xmlns:p14="http://schemas.microsoft.com/office/powerpoint/2010/main" val="119231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JV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85974" y="2656122"/>
            <a:ext cx="7827513" cy="301058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C7FBA0D5-7D5A-48E1-8F8C-C7CE70F89C56}" type="slidenum">
              <a:rPr lang="en-US" smtClean="0"/>
              <a:t>7</a:t>
            </a:fld>
            <a:endParaRPr lang="en-US"/>
          </a:p>
        </p:txBody>
      </p:sp>
    </p:spTree>
    <p:extLst>
      <p:ext uri="{BB962C8B-B14F-4D97-AF65-F5344CB8AC3E}">
        <p14:creationId xmlns:p14="http://schemas.microsoft.com/office/powerpoint/2010/main" val="149824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dirty="0"/>
              <a:t>The </a:t>
            </a:r>
            <a:r>
              <a:rPr lang="en-US" sz="3800" b="1" dirty="0" err="1">
                <a:solidFill>
                  <a:srgbClr val="A20000"/>
                </a:solidFill>
                <a:latin typeface="Times New Roman" panose="02020603050405020304" pitchFamily="18" charset="0"/>
                <a:cs typeface="Times New Roman" panose="02020603050405020304" pitchFamily="18" charset="0"/>
              </a:rPr>
              <a:t>javac</a:t>
            </a:r>
            <a:r>
              <a:rPr lang="en-US" sz="3800" b="1" dirty="0">
                <a:solidFill>
                  <a:srgbClr val="A20000"/>
                </a:solidFill>
                <a:latin typeface="Times New Roman" panose="02020603050405020304" pitchFamily="18" charset="0"/>
                <a:cs typeface="Times New Roman" panose="02020603050405020304" pitchFamily="18" charset="0"/>
              </a:rPr>
              <a:t> compiler</a:t>
            </a:r>
            <a:r>
              <a:rPr lang="en-US" dirty="0"/>
              <a:t> does this thing, it takes java program (.java file containing source code) and translates it into machine code (referred as byte code or .class file).</a:t>
            </a:r>
          </a:p>
          <a:p>
            <a:pPr algn="just"/>
            <a:r>
              <a:rPr lang="en-US" dirty="0"/>
              <a:t>Java Virtual Machine (JVM) is a virtual machine that resides in the real machine (your computer) and the </a:t>
            </a:r>
            <a:r>
              <a:rPr lang="en-US" sz="3800" b="1" dirty="0">
                <a:solidFill>
                  <a:srgbClr val="A20000"/>
                </a:solidFill>
                <a:latin typeface="Times New Roman" panose="02020603050405020304" pitchFamily="18" charset="0"/>
                <a:cs typeface="Times New Roman" panose="02020603050405020304" pitchFamily="18" charset="0"/>
              </a:rPr>
              <a:t>machine language for JVM is byte code</a:t>
            </a:r>
            <a:r>
              <a:rPr lang="en-US" dirty="0"/>
              <a:t>. </a:t>
            </a:r>
          </a:p>
          <a:p>
            <a:pPr algn="just"/>
            <a:r>
              <a:rPr lang="en-US" dirty="0"/>
              <a:t> JVM executes the byte code generated by compiler and produce output. </a:t>
            </a:r>
            <a:r>
              <a:rPr lang="en-US" sz="3500" b="1" dirty="0">
                <a:solidFill>
                  <a:srgbClr val="A20000"/>
                </a:solidFill>
                <a:latin typeface="Times New Roman" panose="02020603050405020304" pitchFamily="18" charset="0"/>
                <a:cs typeface="Times New Roman" panose="02020603050405020304" pitchFamily="18" charset="0"/>
              </a:rPr>
              <a:t>JVM is the one that makes java </a:t>
            </a:r>
            <a:r>
              <a:rPr lang="en-US" sz="3800" b="1" dirty="0">
                <a:solidFill>
                  <a:srgbClr val="A20000"/>
                </a:solidFill>
                <a:latin typeface="Times New Roman" panose="02020603050405020304" pitchFamily="18" charset="0"/>
                <a:cs typeface="Times New Roman" panose="02020603050405020304" pitchFamily="18" charset="0"/>
              </a:rPr>
              <a:t>platform independent</a:t>
            </a:r>
            <a:r>
              <a:rPr lang="en-US" sz="3500" b="1" dirty="0">
                <a:solidFill>
                  <a:srgbClr val="A20000"/>
                </a:solidFill>
                <a:latin typeface="Times New Roman" panose="02020603050405020304" pitchFamily="18" charset="0"/>
                <a:cs typeface="Times New Roman" panose="02020603050405020304" pitchFamily="18" charset="0"/>
              </a:rPr>
              <a:t>.</a:t>
            </a:r>
          </a:p>
          <a:p>
            <a:pPr algn="just"/>
            <a:r>
              <a:rPr lang="en-US" b="1" dirty="0">
                <a:solidFill>
                  <a:srgbClr val="A20000"/>
                </a:solidFill>
                <a:latin typeface="Times New Roman" panose="02020603050405020304" pitchFamily="18" charset="0"/>
                <a:cs typeface="Times New Roman" panose="02020603050405020304" pitchFamily="18" charset="0"/>
              </a:rPr>
              <a:t>Each operating system has different JVM, however the output they </a:t>
            </a:r>
            <a:r>
              <a:rPr lang="en-US" sz="3800" b="1" dirty="0">
                <a:solidFill>
                  <a:srgbClr val="A20000"/>
                </a:solidFill>
                <a:latin typeface="Times New Roman" panose="02020603050405020304" pitchFamily="18" charset="0"/>
                <a:cs typeface="Times New Roman" panose="02020603050405020304" pitchFamily="18" charset="0"/>
              </a:rPr>
              <a:t>produce</a:t>
            </a:r>
            <a:r>
              <a:rPr lang="en-US" b="1" dirty="0">
                <a:solidFill>
                  <a:srgbClr val="A20000"/>
                </a:solidFill>
                <a:latin typeface="Times New Roman" panose="02020603050405020304" pitchFamily="18" charset="0"/>
                <a:cs typeface="Times New Roman" panose="02020603050405020304" pitchFamily="18" charset="0"/>
              </a:rPr>
              <a:t> after execution of byte code is same across all operating systems</a:t>
            </a:r>
            <a:r>
              <a:rPr lang="en-US" sz="3800" b="1" dirty="0">
                <a:solidFill>
                  <a:srgbClr val="A20000"/>
                </a:solidFill>
                <a:latin typeface="Times New Roman" panose="02020603050405020304" pitchFamily="18" charset="0"/>
                <a:cs typeface="Times New Roman" panose="02020603050405020304" pitchFamily="18" charset="0"/>
              </a:rPr>
              <a:t>. </a:t>
            </a:r>
            <a:r>
              <a:rPr lang="en-US" dirty="0"/>
              <a:t>Which means that the byte code generated on Windows can be run on Mac OS and vice versa. That is why we call java as platform independent language. </a:t>
            </a:r>
          </a:p>
        </p:txBody>
      </p:sp>
      <p:sp>
        <p:nvSpPr>
          <p:cNvPr id="5" name="Slide Number Placeholder 4"/>
          <p:cNvSpPr>
            <a:spLocks noGrp="1"/>
          </p:cNvSpPr>
          <p:nvPr>
            <p:ph type="sldNum" sz="quarter" idx="12"/>
          </p:nvPr>
        </p:nvSpPr>
        <p:spPr/>
        <p:txBody>
          <a:bodyPr/>
          <a:lstStyle/>
          <a:p>
            <a:fld id="{C7FBA0D5-7D5A-48E1-8F8C-C7CE70F89C56}" type="slidenum">
              <a:rPr lang="en-US" smtClean="0"/>
              <a:t>8</a:t>
            </a:fld>
            <a:endParaRPr lang="en-US"/>
          </a:p>
        </p:txBody>
      </p:sp>
    </p:spTree>
    <p:extLst>
      <p:ext uri="{BB962C8B-B14F-4D97-AF65-F5344CB8AC3E}">
        <p14:creationId xmlns:p14="http://schemas.microsoft.com/office/powerpoint/2010/main" val="199379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290" y="236336"/>
            <a:ext cx="10515600" cy="1325563"/>
          </a:xfrm>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JVM Architecture</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2050" name="Picture 2" descr="jvm architectur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38500" y="2096294"/>
            <a:ext cx="5715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C7FBA0D5-7D5A-48E1-8F8C-C7CE70F89C56}" type="slidenum">
              <a:rPr lang="en-US" smtClean="0"/>
              <a:t>9</a:t>
            </a:fld>
            <a:endParaRPr lang="en-US"/>
          </a:p>
        </p:txBody>
      </p:sp>
    </p:spTree>
    <p:extLst>
      <p:ext uri="{BB962C8B-B14F-4D97-AF65-F5344CB8AC3E}">
        <p14:creationId xmlns:p14="http://schemas.microsoft.com/office/powerpoint/2010/main" val="1830075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a:t>:Class Loader</a:t>
            </a:r>
            <a:r>
              <a:rPr lang="en-US" dirty="0"/>
              <a:t> The class loader reads the .class file and save the byte code in the </a:t>
            </a:r>
            <a:r>
              <a:rPr lang="en-US" b="1" dirty="0"/>
              <a:t>method area</a:t>
            </a:r>
            <a:r>
              <a:rPr lang="en-US" dirty="0"/>
              <a:t>.</a:t>
            </a:r>
          </a:p>
          <a:p>
            <a:r>
              <a:rPr lang="en-US" b="1" dirty="0"/>
              <a:t>Method Area</a:t>
            </a:r>
            <a:r>
              <a:rPr lang="en-US" dirty="0"/>
              <a:t>: There is only one method area in a JVM which is shared among all the classes. This holds the class level information of each .class file.</a:t>
            </a:r>
          </a:p>
          <a:p>
            <a:r>
              <a:rPr lang="en-US" b="1" dirty="0"/>
              <a:t>Heap</a:t>
            </a:r>
            <a:r>
              <a:rPr lang="en-US" dirty="0"/>
              <a:t>: Heap is a part of JVM memory where objects are allocated. JVM creates a Class object for each .class file.</a:t>
            </a:r>
          </a:p>
          <a:p>
            <a:r>
              <a:rPr lang="en-US" b="1" dirty="0"/>
              <a:t>Stack</a:t>
            </a:r>
            <a:r>
              <a:rPr lang="en-US" dirty="0"/>
              <a:t>: Stack is a also a part of JVM memory but unlike Heap, it is used for storing temporary variables.</a:t>
            </a:r>
          </a:p>
          <a:p>
            <a:r>
              <a:rPr lang="en-US" b="1" dirty="0"/>
              <a:t>PC Registers</a:t>
            </a:r>
            <a:r>
              <a:rPr lang="en-US" dirty="0"/>
              <a:t>: This keeps the track of which instruction has been executed and which one is going to be executed. Since instructions are executed by threads, each thread has a separate PC register.</a:t>
            </a:r>
          </a:p>
          <a:p>
            <a:r>
              <a:rPr lang="en-US" b="1" dirty="0"/>
              <a:t>Native Method stack:</a:t>
            </a:r>
            <a:r>
              <a:rPr lang="en-US" dirty="0"/>
              <a:t> A native method can access the runtime data areas of the virtual machine.</a:t>
            </a:r>
          </a:p>
          <a:p>
            <a:r>
              <a:rPr lang="en-US" b="1" dirty="0"/>
              <a:t>Native Method interface</a:t>
            </a:r>
            <a:r>
              <a:rPr lang="en-US" dirty="0"/>
              <a:t>: It enables java code to call or be called by native applications. Native applications are programs that are specific to the hardware and OS of a system.</a:t>
            </a:r>
          </a:p>
          <a:p>
            <a:r>
              <a:rPr lang="en-US" b="1" dirty="0"/>
              <a:t>Garbage collection</a:t>
            </a:r>
            <a:r>
              <a:rPr lang="en-US" dirty="0"/>
              <a:t>: A class instance is explicitly created by the java code and after use it is automatically destroyed by garbage collection for memory management.</a:t>
            </a:r>
          </a:p>
          <a:p>
            <a:endParaRPr lang="en-US" dirty="0"/>
          </a:p>
        </p:txBody>
      </p:sp>
      <p:sp>
        <p:nvSpPr>
          <p:cNvPr id="5" name="Slide Number Placeholder 4"/>
          <p:cNvSpPr>
            <a:spLocks noGrp="1"/>
          </p:cNvSpPr>
          <p:nvPr>
            <p:ph type="sldNum" sz="quarter" idx="12"/>
          </p:nvPr>
        </p:nvSpPr>
        <p:spPr/>
        <p:txBody>
          <a:bodyPr/>
          <a:lstStyle/>
          <a:p>
            <a:fld id="{C7FBA0D5-7D5A-48E1-8F8C-C7CE70F89C56}" type="slidenum">
              <a:rPr lang="en-US" smtClean="0"/>
              <a:t>10</a:t>
            </a:fld>
            <a:endParaRPr lang="en-US"/>
          </a:p>
        </p:txBody>
      </p:sp>
    </p:spTree>
    <p:extLst>
      <p:ext uri="{BB962C8B-B14F-4D97-AF65-F5344CB8AC3E}">
        <p14:creationId xmlns:p14="http://schemas.microsoft.com/office/powerpoint/2010/main" val="847268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Types of Variables in Java</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There are </a:t>
            </a:r>
            <a:r>
              <a:rPr lang="en-US" b="1" dirty="0"/>
              <a:t> </a:t>
            </a:r>
            <a:r>
              <a:rPr lang="en-US" sz="3500" b="1" dirty="0">
                <a:solidFill>
                  <a:srgbClr val="A20000"/>
                </a:solidFill>
                <a:latin typeface="Times New Roman" panose="02020603050405020304" pitchFamily="18" charset="0"/>
                <a:cs typeface="Times New Roman" panose="02020603050405020304" pitchFamily="18" charset="0"/>
              </a:rPr>
              <a:t>3</a:t>
            </a:r>
            <a:r>
              <a:rPr lang="en-US" b="1" dirty="0"/>
              <a:t> types of variables</a:t>
            </a:r>
            <a:r>
              <a:rPr lang="en-US" dirty="0"/>
              <a:t> in Java.</a:t>
            </a:r>
          </a:p>
          <a:p>
            <a:pPr marL="0" indent="0">
              <a:buNone/>
            </a:pPr>
            <a:r>
              <a:rPr lang="en-US" sz="3000" b="1" dirty="0">
                <a:solidFill>
                  <a:srgbClr val="A20000"/>
                </a:solidFill>
                <a:latin typeface="Times New Roman" panose="02020603050405020304" pitchFamily="18" charset="0"/>
                <a:cs typeface="Times New Roman" panose="02020603050405020304" pitchFamily="18" charset="0"/>
              </a:rPr>
              <a:t>1) Static variable </a:t>
            </a:r>
          </a:p>
          <a:p>
            <a:pPr marL="0" indent="0">
              <a:buNone/>
            </a:pPr>
            <a:r>
              <a:rPr lang="en-US" sz="3000" b="1" dirty="0">
                <a:solidFill>
                  <a:srgbClr val="A20000"/>
                </a:solidFill>
                <a:latin typeface="Times New Roman" panose="02020603050405020304" pitchFamily="18" charset="0"/>
                <a:cs typeface="Times New Roman" panose="02020603050405020304" pitchFamily="18" charset="0"/>
              </a:rPr>
              <a:t>2) Instance variable</a:t>
            </a:r>
          </a:p>
          <a:p>
            <a:pPr marL="0" indent="0">
              <a:buNone/>
            </a:pPr>
            <a:r>
              <a:rPr lang="en-US" sz="3000" b="1" dirty="0">
                <a:solidFill>
                  <a:srgbClr val="A20000"/>
                </a:solidFill>
                <a:latin typeface="Times New Roman" panose="02020603050405020304" pitchFamily="18" charset="0"/>
                <a:cs typeface="Times New Roman" panose="02020603050405020304" pitchFamily="18" charset="0"/>
              </a:rPr>
              <a:t>3) Local variable</a:t>
            </a:r>
          </a:p>
          <a:p>
            <a:r>
              <a:rPr lang="en-US" sz="3000" b="1" dirty="0">
                <a:solidFill>
                  <a:srgbClr val="C00000"/>
                </a:solidFill>
              </a:rPr>
              <a:t>Static variables </a:t>
            </a:r>
            <a:r>
              <a:rPr lang="en-US" dirty="0"/>
              <a:t>are also known as class variable because they are associated with the class and common for all the instances of class.</a:t>
            </a:r>
          </a:p>
          <a:p>
            <a:r>
              <a:rPr lang="en-US" sz="3000" b="1" dirty="0">
                <a:solidFill>
                  <a:srgbClr val="C00000"/>
                </a:solidFill>
              </a:rPr>
              <a:t>Instance variable</a:t>
            </a:r>
          </a:p>
          <a:p>
            <a:pPr marL="0" indent="0">
              <a:buNone/>
            </a:pPr>
            <a:r>
              <a:rPr lang="en-US" dirty="0"/>
              <a:t>Each instance(objects) of class has its own copy of instance variable. Unlike static variable, instance variables have their own separate copy of instance variable.</a:t>
            </a:r>
          </a:p>
          <a:p>
            <a:pPr marL="0" indent="0">
              <a:buNone/>
            </a:pPr>
            <a:endParaRPr lang="en-US" dirty="0"/>
          </a:p>
        </p:txBody>
      </p:sp>
      <p:sp>
        <p:nvSpPr>
          <p:cNvPr id="5" name="Slide Number Placeholder 4"/>
          <p:cNvSpPr>
            <a:spLocks noGrp="1"/>
          </p:cNvSpPr>
          <p:nvPr>
            <p:ph type="sldNum" sz="quarter" idx="12"/>
          </p:nvPr>
        </p:nvSpPr>
        <p:spPr/>
        <p:txBody>
          <a:bodyPr/>
          <a:lstStyle/>
          <a:p>
            <a:fld id="{C7FBA0D5-7D5A-48E1-8F8C-C7CE70F89C56}" type="slidenum">
              <a:rPr lang="en-US" smtClean="0"/>
              <a:t>11</a:t>
            </a:fld>
            <a:endParaRPr lang="en-US"/>
          </a:p>
        </p:txBody>
      </p:sp>
    </p:spTree>
    <p:extLst>
      <p:ext uri="{BB962C8B-B14F-4D97-AF65-F5344CB8AC3E}">
        <p14:creationId xmlns:p14="http://schemas.microsoft.com/office/powerpoint/2010/main" val="222473805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sz="3200" b="1" dirty="0">
                <a:solidFill>
                  <a:srgbClr val="A20000"/>
                </a:solidFill>
                <a:latin typeface="Times New Roman" panose="02020603050405020304" pitchFamily="18" charset="0"/>
                <a:cs typeface="Times New Roman" panose="02020603050405020304" pitchFamily="18" charset="0"/>
              </a:rPr>
              <a:t>Local Variable</a:t>
            </a:r>
          </a:p>
          <a:p>
            <a:pPr marL="0" indent="0">
              <a:buNone/>
            </a:pPr>
            <a:r>
              <a:rPr lang="en-US" dirty="0"/>
              <a:t>These variables are declared inside method of the class. Their scope is limited to the method which means that You can’t change their values and access them outside of the method.</a:t>
            </a:r>
          </a:p>
          <a:p>
            <a:r>
              <a:rPr lang="en-US" sz="3200" b="1" dirty="0">
                <a:solidFill>
                  <a:srgbClr val="A20000"/>
                </a:solidFill>
                <a:latin typeface="Times New Roman" panose="02020603050405020304" pitchFamily="18" charset="0"/>
                <a:cs typeface="Times New Roman" panose="02020603050405020304" pitchFamily="18" charset="0"/>
              </a:rPr>
              <a:t>How to Declare a variable in Java:</a:t>
            </a:r>
          </a:p>
          <a:p>
            <a:endParaRPr lang="en-US" sz="3200" b="1" dirty="0">
              <a:solidFill>
                <a:srgbClr val="A20000"/>
              </a:solidFill>
              <a:latin typeface="Times New Roman" panose="02020603050405020304" pitchFamily="18" charset="0"/>
              <a:cs typeface="Times New Roman" panose="02020603050405020304" pitchFamily="18" charset="0"/>
            </a:endParaRPr>
          </a:p>
          <a:p>
            <a:pPr marL="0" indent="0">
              <a:buNone/>
            </a:pPr>
            <a:endParaRPr lang="en-US" sz="3200" b="1" dirty="0">
              <a:solidFill>
                <a:srgbClr val="A20000"/>
              </a:solidFill>
              <a:latin typeface="Times New Roman" panose="02020603050405020304" pitchFamily="18" charset="0"/>
              <a:cs typeface="Times New Roman" panose="02020603050405020304" pitchFamily="18" charset="0"/>
            </a:endParaRPr>
          </a:p>
          <a:p>
            <a:pPr marL="0" indent="0">
              <a:buNone/>
            </a:pPr>
            <a:br>
              <a:rPr lang="en-US" b="1" dirty="0"/>
            </a:br>
            <a:endParaRPr lang="en-US" dirty="0"/>
          </a:p>
        </p:txBody>
      </p:sp>
      <p:sp>
        <p:nvSpPr>
          <p:cNvPr id="4" name="Rectangle 1"/>
          <p:cNvSpPr txBox="1">
            <a:spLocks noChangeArrowheads="1"/>
          </p:cNvSpPr>
          <p:nvPr/>
        </p:nvSpPr>
        <p:spPr bwMode="auto">
          <a:xfrm>
            <a:off x="1224566" y="4138539"/>
            <a:ext cx="8344437" cy="40011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en-US" altLang="en-US" sz="2000" b="1">
                <a:solidFill>
                  <a:srgbClr val="000000"/>
                </a:solidFill>
                <a:latin typeface="Courier New" panose="02070309020205020404" pitchFamily="49" charset="0"/>
                <a:cs typeface="Courier New" panose="02070309020205020404" pitchFamily="49" charset="0"/>
              </a:rPr>
              <a:t>data_type variable_name = value;</a:t>
            </a:r>
            <a:r>
              <a:rPr lang="en-US" altLang="en-US" sz="2000" b="1"/>
              <a:t> </a:t>
            </a:r>
            <a:endParaRPr lang="en-US" altLang="en-US" sz="3600" b="1" dirty="0">
              <a:latin typeface="Arial" panose="020B0604020202020204" pitchFamily="34" charset="0"/>
            </a:endParaRPr>
          </a:p>
        </p:txBody>
      </p:sp>
      <p:sp>
        <p:nvSpPr>
          <p:cNvPr id="6" name="Slide Number Placeholder 5"/>
          <p:cNvSpPr>
            <a:spLocks noGrp="1"/>
          </p:cNvSpPr>
          <p:nvPr>
            <p:ph type="sldNum" sz="quarter" idx="12"/>
          </p:nvPr>
        </p:nvSpPr>
        <p:spPr/>
        <p:txBody>
          <a:bodyPr/>
          <a:lstStyle/>
          <a:p>
            <a:fld id="{C7FBA0D5-7D5A-48E1-8F8C-C7CE70F89C56}" type="slidenum">
              <a:rPr lang="en-US" smtClean="0"/>
              <a:t>12</a:t>
            </a:fld>
            <a:endParaRPr lang="en-US"/>
          </a:p>
        </p:txBody>
      </p:sp>
    </p:spTree>
    <p:extLst>
      <p:ext uri="{BB962C8B-B14F-4D97-AF65-F5344CB8AC3E}">
        <p14:creationId xmlns:p14="http://schemas.microsoft.com/office/powerpoint/2010/main" val="3211438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spcBef>
                <a:spcPts val="1000"/>
              </a:spcBef>
            </a:pPr>
            <a:r>
              <a:rPr lang="en-US" sz="3200" b="1" dirty="0">
                <a:solidFill>
                  <a:srgbClr val="A20000"/>
                </a:solidFill>
                <a:latin typeface="Times New Roman" panose="02020603050405020304" pitchFamily="18" charset="0"/>
                <a:ea typeface="+mn-ea"/>
                <a:cs typeface="Times New Roman" panose="02020603050405020304" pitchFamily="18" charset="0"/>
              </a:rPr>
              <a:t>Types of Operator in Java</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5" name="Content Placeholder 4"/>
          <p:cNvSpPr>
            <a:spLocks noGrp="1"/>
          </p:cNvSpPr>
          <p:nvPr>
            <p:ph idx="1"/>
          </p:nvPr>
        </p:nvSpPr>
        <p:spPr/>
        <p:txBody>
          <a:bodyPr>
            <a:normAutofit fontScale="25000" lnSpcReduction="20000"/>
          </a:bodyPr>
          <a:lstStyle/>
          <a:p>
            <a:pPr marL="0" indent="0">
              <a:lnSpc>
                <a:spcPct val="110000"/>
              </a:lnSpc>
              <a:buNone/>
            </a:pPr>
            <a:r>
              <a:rPr lang="en-US" sz="8000" b="1" dirty="0">
                <a:solidFill>
                  <a:srgbClr val="A20000"/>
                </a:solidFill>
                <a:latin typeface="Times New Roman" panose="02020603050405020304" pitchFamily="18" charset="0"/>
                <a:cs typeface="Times New Roman" panose="02020603050405020304" pitchFamily="18" charset="0"/>
              </a:rPr>
              <a:t>1)Basic Arithmetic Operators</a:t>
            </a:r>
          </a:p>
          <a:p>
            <a:pPr marL="0" indent="0">
              <a:lnSpc>
                <a:spcPct val="110000"/>
              </a:lnSpc>
              <a:buNone/>
            </a:pPr>
            <a:r>
              <a:rPr lang="en-US" sz="8000" b="1" dirty="0">
                <a:solidFill>
                  <a:srgbClr val="A20000"/>
                </a:solidFill>
                <a:latin typeface="Times New Roman" panose="02020603050405020304" pitchFamily="18" charset="0"/>
                <a:cs typeface="Times New Roman" panose="02020603050405020304" pitchFamily="18" charset="0"/>
              </a:rPr>
              <a:t>                    Basic arithmetic operators are: +, -, *, /, %</a:t>
            </a:r>
          </a:p>
          <a:p>
            <a:pPr marL="0" indent="0">
              <a:lnSpc>
                <a:spcPct val="170000"/>
              </a:lnSpc>
              <a:buNone/>
            </a:pPr>
            <a:r>
              <a:rPr lang="en-US" sz="8000" b="1" dirty="0">
                <a:solidFill>
                  <a:srgbClr val="A20000"/>
                </a:solidFill>
                <a:latin typeface="Times New Roman" panose="02020603050405020304" pitchFamily="18" charset="0"/>
                <a:cs typeface="Times New Roman" panose="02020603050405020304" pitchFamily="18" charset="0"/>
              </a:rPr>
              <a:t>2) Assignment Operators  ( = )</a:t>
            </a:r>
            <a:br>
              <a:rPr lang="en-US" sz="8000" b="1" dirty="0">
                <a:solidFill>
                  <a:srgbClr val="A20000"/>
                </a:solidFill>
                <a:latin typeface="Times New Roman" panose="02020603050405020304" pitchFamily="18" charset="0"/>
                <a:cs typeface="Times New Roman" panose="02020603050405020304" pitchFamily="18" charset="0"/>
              </a:rPr>
            </a:br>
            <a:r>
              <a:rPr lang="en-US" sz="8000" b="1" dirty="0">
                <a:solidFill>
                  <a:srgbClr val="A20000"/>
                </a:solidFill>
                <a:latin typeface="Times New Roman" panose="02020603050405020304" pitchFamily="18" charset="0"/>
                <a:cs typeface="Times New Roman" panose="02020603050405020304" pitchFamily="18" charset="0"/>
              </a:rPr>
              <a:t>3) Auto-increment and Auto-decrement Operators</a:t>
            </a:r>
          </a:p>
          <a:p>
            <a:pPr marL="0" indent="0">
              <a:lnSpc>
                <a:spcPct val="170000"/>
              </a:lnSpc>
              <a:buNone/>
            </a:pPr>
            <a:r>
              <a:rPr lang="en-US" sz="8000" b="1" dirty="0">
                <a:solidFill>
                  <a:srgbClr val="A20000"/>
                </a:solidFill>
                <a:latin typeface="Times New Roman" panose="02020603050405020304" pitchFamily="18" charset="0"/>
                <a:cs typeface="Times New Roman" panose="02020603050405020304" pitchFamily="18" charset="0"/>
              </a:rPr>
              <a:t>	++ and – -</a:t>
            </a:r>
            <a:br>
              <a:rPr lang="en-US" sz="8000" b="1" dirty="0">
                <a:solidFill>
                  <a:srgbClr val="A20000"/>
                </a:solidFill>
                <a:latin typeface="Times New Roman" panose="02020603050405020304" pitchFamily="18" charset="0"/>
                <a:cs typeface="Times New Roman" panose="02020603050405020304" pitchFamily="18" charset="0"/>
              </a:rPr>
            </a:br>
            <a:r>
              <a:rPr lang="en-US" sz="8000" b="1" dirty="0">
                <a:solidFill>
                  <a:srgbClr val="A20000"/>
                </a:solidFill>
                <a:latin typeface="Times New Roman" panose="02020603050405020304" pitchFamily="18" charset="0"/>
                <a:cs typeface="Times New Roman" panose="02020603050405020304" pitchFamily="18" charset="0"/>
              </a:rPr>
              <a:t>4) Logical Operators</a:t>
            </a:r>
            <a:br>
              <a:rPr lang="en-US" sz="8000" b="1" dirty="0">
                <a:solidFill>
                  <a:srgbClr val="A20000"/>
                </a:solidFill>
                <a:latin typeface="Times New Roman" panose="02020603050405020304" pitchFamily="18" charset="0"/>
                <a:cs typeface="Times New Roman" panose="02020603050405020304" pitchFamily="18" charset="0"/>
              </a:rPr>
            </a:br>
            <a:r>
              <a:rPr lang="en-US" sz="8000" b="1" dirty="0">
                <a:solidFill>
                  <a:srgbClr val="A20000"/>
                </a:solidFill>
                <a:latin typeface="Times New Roman" panose="02020603050405020304" pitchFamily="18" charset="0"/>
                <a:cs typeface="Times New Roman" panose="02020603050405020304" pitchFamily="18" charset="0"/>
              </a:rPr>
              <a:t>5) Comparison (relational) operators</a:t>
            </a:r>
            <a:br>
              <a:rPr lang="en-US" sz="8000" b="1" dirty="0">
                <a:solidFill>
                  <a:srgbClr val="A20000"/>
                </a:solidFill>
                <a:latin typeface="Times New Roman" panose="02020603050405020304" pitchFamily="18" charset="0"/>
                <a:cs typeface="Times New Roman" panose="02020603050405020304" pitchFamily="18" charset="0"/>
              </a:rPr>
            </a:br>
            <a:r>
              <a:rPr lang="en-US" sz="8000" b="1" dirty="0">
                <a:solidFill>
                  <a:srgbClr val="A20000"/>
                </a:solidFill>
                <a:latin typeface="Times New Roman" panose="02020603050405020304" pitchFamily="18" charset="0"/>
                <a:cs typeface="Times New Roman" panose="02020603050405020304" pitchFamily="18" charset="0"/>
              </a:rPr>
              <a:t>6) Bitwise Operators</a:t>
            </a:r>
            <a:br>
              <a:rPr lang="en-US" sz="8000" b="1" dirty="0">
                <a:solidFill>
                  <a:srgbClr val="A20000"/>
                </a:solidFill>
                <a:latin typeface="Times New Roman" panose="02020603050405020304" pitchFamily="18" charset="0"/>
                <a:cs typeface="Times New Roman" panose="02020603050405020304" pitchFamily="18" charset="0"/>
              </a:rPr>
            </a:br>
            <a:r>
              <a:rPr lang="en-US" sz="8000" b="1" dirty="0">
                <a:solidFill>
                  <a:srgbClr val="A20000"/>
                </a:solidFill>
                <a:latin typeface="Times New Roman" panose="02020603050405020304" pitchFamily="18" charset="0"/>
                <a:cs typeface="Times New Roman" panose="02020603050405020304" pitchFamily="18" charset="0"/>
              </a:rPr>
              <a:t>7) Ternary Operator</a:t>
            </a:r>
          </a:p>
          <a:p>
            <a:pPr marL="0" indent="0">
              <a:lnSpc>
                <a:spcPct val="110000"/>
              </a:lnSpc>
              <a:buNone/>
            </a:pPr>
            <a:endParaRPr lang="en-US" sz="4900" b="1" dirty="0">
              <a:solidFill>
                <a:srgbClr val="A20000"/>
              </a:solidFill>
              <a:latin typeface="Times New Roman" panose="02020603050405020304" pitchFamily="18" charset="0"/>
              <a:cs typeface="Times New Roman" panose="02020603050405020304" pitchFamily="18" charset="0"/>
            </a:endParaRPr>
          </a:p>
          <a:p>
            <a:pPr marL="0" indent="0">
              <a:buNone/>
            </a:pPr>
            <a:endParaRPr lang="en-US" sz="9800" b="1" dirty="0">
              <a:solidFill>
                <a:srgbClr val="A20000"/>
              </a:solidFill>
              <a:latin typeface="Times New Roman" panose="02020603050405020304" pitchFamily="18" charset="0"/>
              <a:cs typeface="Times New Roman" panose="02020603050405020304" pitchFamily="18" charset="0"/>
            </a:endParaRP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C7FBA0D5-7D5A-48E1-8F8C-C7CE70F89C56}" type="slidenum">
              <a:rPr lang="en-US" smtClean="0"/>
              <a:t>13</a:t>
            </a:fld>
            <a:endParaRPr lang="en-US"/>
          </a:p>
        </p:txBody>
      </p:sp>
    </p:spTree>
    <p:extLst>
      <p:ext uri="{BB962C8B-B14F-4D97-AF65-F5344CB8AC3E}">
        <p14:creationId xmlns:p14="http://schemas.microsoft.com/office/powerpoint/2010/main" val="2647521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Logical and Relational Operators</a:t>
            </a:r>
            <a:br>
              <a:rPr lang="en-US" b="1" dirty="0"/>
            </a:br>
            <a:endParaRPr lang="en-US" dirty="0"/>
          </a:p>
        </p:txBody>
      </p:sp>
      <p:sp>
        <p:nvSpPr>
          <p:cNvPr id="3" name="Content Placeholder 2"/>
          <p:cNvSpPr>
            <a:spLocks noGrp="1"/>
          </p:cNvSpPr>
          <p:nvPr>
            <p:ph idx="1"/>
          </p:nvPr>
        </p:nvSpPr>
        <p:spPr/>
        <p:txBody>
          <a:bodyPr/>
          <a:lstStyle/>
          <a:p>
            <a:r>
              <a:rPr lang="en-US" sz="3200" b="1" dirty="0">
                <a:solidFill>
                  <a:srgbClr val="A20000"/>
                </a:solidFill>
                <a:latin typeface="Times New Roman" panose="02020603050405020304" pitchFamily="18" charset="0"/>
                <a:cs typeface="Times New Roman" panose="02020603050405020304" pitchFamily="18" charset="0"/>
              </a:rPr>
              <a:t>b1&amp;&amp;b2</a:t>
            </a:r>
            <a:r>
              <a:rPr lang="en-US" dirty="0"/>
              <a:t> will return true if both b1 and b2 are true else it would return false.</a:t>
            </a:r>
          </a:p>
          <a:p>
            <a:r>
              <a:rPr lang="en-US" sz="3200" b="1" dirty="0">
                <a:solidFill>
                  <a:srgbClr val="A20000"/>
                </a:solidFill>
                <a:latin typeface="Times New Roman" panose="02020603050405020304" pitchFamily="18" charset="0"/>
                <a:cs typeface="Times New Roman" panose="02020603050405020304" pitchFamily="18" charset="0"/>
              </a:rPr>
              <a:t>b1||b2 </a:t>
            </a:r>
            <a:r>
              <a:rPr lang="en-US" dirty="0"/>
              <a:t>will return false if both b1 and b2 are false else it would return true.</a:t>
            </a:r>
          </a:p>
          <a:p>
            <a:r>
              <a:rPr lang="en-US" sz="3200" b="1" dirty="0">
                <a:solidFill>
                  <a:srgbClr val="A20000"/>
                </a:solidFill>
                <a:latin typeface="Times New Roman" panose="02020603050405020304" pitchFamily="18" charset="0"/>
                <a:cs typeface="Times New Roman" panose="02020603050405020304" pitchFamily="18" charset="0"/>
              </a:rPr>
              <a:t>!b1</a:t>
            </a:r>
            <a:r>
              <a:rPr lang="en-US" dirty="0"/>
              <a:t> would return the opposite of b1, that means it would be true if b1 is false and it would return false if b1 is true</a:t>
            </a:r>
          </a:p>
          <a:p>
            <a:pPr marL="0" indent="0">
              <a:buNone/>
            </a:pPr>
            <a:r>
              <a:rPr lang="en-US" b="1" dirty="0">
                <a:solidFill>
                  <a:srgbClr val="A20000"/>
                </a:solidFill>
                <a:latin typeface="Times New Roman" panose="02020603050405020304" pitchFamily="18" charset="0"/>
                <a:cs typeface="Times New Roman" panose="02020603050405020304" pitchFamily="18" charset="0"/>
              </a:rPr>
              <a:t>Comparison(Relational) operators</a:t>
            </a:r>
            <a:br>
              <a:rPr lang="en-US" b="1" dirty="0"/>
            </a:br>
            <a:r>
              <a:rPr lang="en-US" dirty="0"/>
              <a:t>We have six relational operators in Java: ==, !=, &gt;, &lt;, &gt;=, &lt;=</a:t>
            </a:r>
          </a:p>
        </p:txBody>
      </p:sp>
      <p:sp>
        <p:nvSpPr>
          <p:cNvPr id="5" name="Slide Number Placeholder 4"/>
          <p:cNvSpPr>
            <a:spLocks noGrp="1"/>
          </p:cNvSpPr>
          <p:nvPr>
            <p:ph type="sldNum" sz="quarter" idx="12"/>
          </p:nvPr>
        </p:nvSpPr>
        <p:spPr/>
        <p:txBody>
          <a:bodyPr/>
          <a:lstStyle/>
          <a:p>
            <a:fld id="{C7FBA0D5-7D5A-48E1-8F8C-C7CE70F89C56}" type="slidenum">
              <a:rPr lang="en-US" smtClean="0"/>
              <a:t>14</a:t>
            </a:fld>
            <a:endParaRPr lang="en-US"/>
          </a:p>
        </p:txBody>
      </p:sp>
    </p:spTree>
    <p:extLst>
      <p:ext uri="{BB962C8B-B14F-4D97-AF65-F5344CB8AC3E}">
        <p14:creationId xmlns:p14="http://schemas.microsoft.com/office/powerpoint/2010/main" val="1265031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Bitwise Operators</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r>
              <a:rPr lang="en-US" dirty="0"/>
              <a:t>There are six bitwise Operators: </a:t>
            </a:r>
            <a:r>
              <a:rPr lang="en-US" b="1" dirty="0">
                <a:solidFill>
                  <a:srgbClr val="C00000"/>
                </a:solidFill>
              </a:rPr>
              <a:t>&amp;, |, ^, ~, &lt;&lt;, &gt;&gt;</a:t>
            </a:r>
          </a:p>
          <a:p>
            <a:r>
              <a:rPr lang="en-US" dirty="0"/>
              <a:t>Bitwise operator performs bit by bit processing.</a:t>
            </a:r>
            <a:br>
              <a:rPr lang="en-US" dirty="0"/>
            </a:br>
            <a:r>
              <a:rPr lang="en-US" b="1" dirty="0"/>
              <a:t>num1 &amp; num2</a:t>
            </a:r>
            <a:r>
              <a:rPr lang="en-US" dirty="0"/>
              <a:t> (AND)compares corresponding bits of num1 and num2 and generates 1 if both bits are equal, else it returns 0. </a:t>
            </a:r>
          </a:p>
          <a:p>
            <a:r>
              <a:rPr lang="en-US" b="1" dirty="0"/>
              <a:t>num1 | num2</a:t>
            </a:r>
            <a:r>
              <a:rPr lang="en-US" dirty="0"/>
              <a:t> (OR)compares corresponding bits of num1 and num2 and generates 1 if either bit is 1, else it returns 0. In our case it would return 31 which is 00011111</a:t>
            </a:r>
          </a:p>
          <a:p>
            <a:r>
              <a:rPr lang="en-US" b="1" dirty="0"/>
              <a:t>num1 ^ num2</a:t>
            </a:r>
            <a:r>
              <a:rPr lang="en-US" dirty="0"/>
              <a:t> (XOR) compares corresponding bits of num1 and num2 and generates 1 if they are not equal, else it returns 0. </a:t>
            </a:r>
          </a:p>
          <a:p>
            <a:r>
              <a:rPr lang="en-US" b="1" dirty="0"/>
              <a:t>~num1</a:t>
            </a:r>
            <a:r>
              <a:rPr lang="en-US" dirty="0"/>
              <a:t> is a complement operator that just changes the bit from 0 to 1 and 1 to 0. </a:t>
            </a:r>
          </a:p>
          <a:p>
            <a:r>
              <a:rPr lang="en-US" b="1" dirty="0"/>
              <a:t>num1 &lt;&lt; 2</a:t>
            </a:r>
            <a:r>
              <a:rPr lang="en-US" dirty="0"/>
              <a:t> is left shift operator that moves the bits to the left, discards the far left bit, and assigns the rightmost bit a value of 0. </a:t>
            </a:r>
          </a:p>
          <a:p>
            <a:r>
              <a:rPr lang="en-US" b="1" dirty="0"/>
              <a:t>num1 &gt;&gt; 2</a:t>
            </a:r>
            <a:r>
              <a:rPr lang="en-US" dirty="0"/>
              <a:t> is right shift operator that moves the bits to the right, discards the far right bit, and assigns the leftmost bit a value of 0. </a:t>
            </a:r>
          </a:p>
        </p:txBody>
      </p:sp>
      <p:sp>
        <p:nvSpPr>
          <p:cNvPr id="5" name="Slide Number Placeholder 4"/>
          <p:cNvSpPr>
            <a:spLocks noGrp="1"/>
          </p:cNvSpPr>
          <p:nvPr>
            <p:ph type="sldNum" sz="quarter" idx="12"/>
          </p:nvPr>
        </p:nvSpPr>
        <p:spPr/>
        <p:txBody>
          <a:bodyPr/>
          <a:lstStyle/>
          <a:p>
            <a:fld id="{C7FBA0D5-7D5A-48E1-8F8C-C7CE70F89C56}" type="slidenum">
              <a:rPr lang="en-US" smtClean="0"/>
              <a:t>15</a:t>
            </a:fld>
            <a:endParaRPr lang="en-US"/>
          </a:p>
        </p:txBody>
      </p:sp>
    </p:spTree>
    <p:extLst>
      <p:ext uri="{BB962C8B-B14F-4D97-AF65-F5344CB8AC3E}">
        <p14:creationId xmlns:p14="http://schemas.microsoft.com/office/powerpoint/2010/main" val="151504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33062"/>
            <a:ext cx="10515600" cy="1325563"/>
          </a:xfrm>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Operator Precedence in Java</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4" name="Content Placeholder 3"/>
          <p:cNvSpPr>
            <a:spLocks noGrp="1"/>
          </p:cNvSpPr>
          <p:nvPr>
            <p:ph sz="half" idx="2"/>
          </p:nvPr>
        </p:nvSpPr>
        <p:spPr>
          <a:xfrm>
            <a:off x="839788" y="1658625"/>
            <a:ext cx="5157787" cy="3684588"/>
          </a:xfrm>
        </p:spPr>
        <p:txBody>
          <a:bodyPr>
            <a:normAutofit fontScale="25000" lnSpcReduction="20000"/>
          </a:bodyPr>
          <a:lstStyle/>
          <a:p>
            <a:pPr>
              <a:lnSpc>
                <a:spcPct val="110000"/>
              </a:lnSpc>
            </a:pPr>
            <a:r>
              <a:rPr lang="en-US" sz="6400" b="1" dirty="0"/>
              <a:t>Unary Operators</a:t>
            </a:r>
            <a:br>
              <a:rPr lang="en-US" sz="6400" b="1" dirty="0"/>
            </a:br>
            <a:r>
              <a:rPr lang="en-US" sz="6400" b="1" dirty="0"/>
              <a:t>++  – –  !  ~</a:t>
            </a:r>
          </a:p>
          <a:p>
            <a:pPr>
              <a:lnSpc>
                <a:spcPct val="110000"/>
              </a:lnSpc>
            </a:pPr>
            <a:r>
              <a:rPr lang="en-US" sz="6400" b="1" dirty="0"/>
              <a:t>Multiplicative</a:t>
            </a:r>
            <a:br>
              <a:rPr lang="en-US" sz="6400" b="1" dirty="0"/>
            </a:br>
            <a:r>
              <a:rPr lang="en-US" sz="6400" b="1" dirty="0"/>
              <a:t>*  / %</a:t>
            </a:r>
          </a:p>
          <a:p>
            <a:pPr>
              <a:lnSpc>
                <a:spcPct val="110000"/>
              </a:lnSpc>
            </a:pPr>
            <a:r>
              <a:rPr lang="en-US" sz="6400" b="1" dirty="0"/>
              <a:t>Additive</a:t>
            </a:r>
            <a:br>
              <a:rPr lang="en-US" sz="6400" b="1" dirty="0"/>
            </a:br>
            <a:r>
              <a:rPr lang="en-US" sz="6400" b="1" dirty="0"/>
              <a:t>+  –</a:t>
            </a:r>
          </a:p>
          <a:p>
            <a:pPr>
              <a:lnSpc>
                <a:spcPct val="110000"/>
              </a:lnSpc>
            </a:pPr>
            <a:r>
              <a:rPr lang="en-US" sz="6400" b="1" dirty="0"/>
              <a:t>Shift</a:t>
            </a:r>
            <a:br>
              <a:rPr lang="en-US" sz="6400" b="1" dirty="0"/>
            </a:br>
            <a:r>
              <a:rPr lang="en-US" sz="6400" b="1" dirty="0"/>
              <a:t>&lt;&lt;  &gt;&gt;  &gt;&gt;&gt;</a:t>
            </a:r>
          </a:p>
          <a:p>
            <a:pPr>
              <a:lnSpc>
                <a:spcPct val="110000"/>
              </a:lnSpc>
            </a:pPr>
            <a:r>
              <a:rPr lang="en-US" sz="6400" b="1" dirty="0"/>
              <a:t>Relational</a:t>
            </a:r>
            <a:br>
              <a:rPr lang="en-US" sz="6400" b="1" dirty="0"/>
            </a:br>
            <a:r>
              <a:rPr lang="en-US" sz="6400" b="1" dirty="0"/>
              <a:t>&gt;  &gt;=  &lt;  &lt;=</a:t>
            </a:r>
          </a:p>
          <a:p>
            <a:pPr>
              <a:lnSpc>
                <a:spcPct val="110000"/>
              </a:lnSpc>
            </a:pPr>
            <a:r>
              <a:rPr lang="en-US" sz="6400" b="1" dirty="0"/>
              <a:t>Equality</a:t>
            </a:r>
            <a:br>
              <a:rPr lang="en-US" sz="6400" b="1" dirty="0"/>
            </a:br>
            <a:r>
              <a:rPr lang="en-US" sz="6400" b="1" dirty="0"/>
              <a:t>==  !=</a:t>
            </a:r>
          </a:p>
          <a:p>
            <a:pPr>
              <a:lnSpc>
                <a:spcPct val="110000"/>
              </a:lnSpc>
            </a:pPr>
            <a:br>
              <a:rPr lang="en-US" dirty="0"/>
            </a:br>
            <a:r>
              <a:rPr lang="en-US" b="1" dirty="0"/>
              <a:t>|</a:t>
            </a:r>
            <a:endParaRPr lang="en-US" dirty="0"/>
          </a:p>
          <a:p>
            <a:endParaRPr lang="en-US" dirty="0"/>
          </a:p>
        </p:txBody>
      </p:sp>
      <p:sp>
        <p:nvSpPr>
          <p:cNvPr id="6" name="Content Placeholder 5"/>
          <p:cNvSpPr>
            <a:spLocks noGrp="1"/>
          </p:cNvSpPr>
          <p:nvPr>
            <p:ph sz="quarter" idx="4"/>
          </p:nvPr>
        </p:nvSpPr>
        <p:spPr>
          <a:xfrm>
            <a:off x="6097588" y="1674657"/>
            <a:ext cx="5183188" cy="3684588"/>
          </a:xfrm>
        </p:spPr>
        <p:txBody>
          <a:bodyPr>
            <a:normAutofit fontScale="25000" lnSpcReduction="20000"/>
          </a:bodyPr>
          <a:lstStyle/>
          <a:p>
            <a:endParaRPr lang="en-US" sz="2600" b="1" dirty="0"/>
          </a:p>
          <a:p>
            <a:pPr>
              <a:lnSpc>
                <a:spcPct val="110000"/>
              </a:lnSpc>
            </a:pPr>
            <a:r>
              <a:rPr lang="en-US" sz="6400" b="1" dirty="0"/>
              <a:t>Bitwise AND</a:t>
            </a:r>
            <a:br>
              <a:rPr lang="en-US" sz="6400" b="1" dirty="0"/>
            </a:br>
            <a:r>
              <a:rPr lang="en-US" sz="6400" b="1" dirty="0"/>
              <a:t>&amp;</a:t>
            </a:r>
          </a:p>
          <a:p>
            <a:pPr>
              <a:lnSpc>
                <a:spcPct val="110000"/>
              </a:lnSpc>
            </a:pPr>
            <a:r>
              <a:rPr lang="en-US" sz="6400" b="1" dirty="0"/>
              <a:t>Bitwise XOR</a:t>
            </a:r>
            <a:br>
              <a:rPr lang="en-US" sz="6400" b="1" dirty="0"/>
            </a:br>
            <a:r>
              <a:rPr lang="en-US" sz="6400" b="1" dirty="0"/>
              <a:t>^</a:t>
            </a:r>
          </a:p>
          <a:p>
            <a:pPr>
              <a:lnSpc>
                <a:spcPct val="110000"/>
              </a:lnSpc>
            </a:pPr>
            <a:r>
              <a:rPr lang="en-US" sz="6400" b="1" dirty="0"/>
              <a:t>Bitwise OR Logical AND</a:t>
            </a:r>
            <a:br>
              <a:rPr lang="en-US" sz="6400" b="1" dirty="0"/>
            </a:br>
            <a:r>
              <a:rPr lang="en-US" sz="6400" b="1" dirty="0"/>
              <a:t>&amp;&amp;</a:t>
            </a:r>
          </a:p>
          <a:p>
            <a:pPr>
              <a:lnSpc>
                <a:spcPct val="110000"/>
              </a:lnSpc>
            </a:pPr>
            <a:r>
              <a:rPr lang="en-US" sz="6400" b="1" dirty="0"/>
              <a:t>Logical OR</a:t>
            </a:r>
            <a:br>
              <a:rPr lang="en-US" sz="6400" b="1" dirty="0"/>
            </a:br>
            <a:r>
              <a:rPr lang="en-US" sz="6400" b="1" dirty="0"/>
              <a:t>||</a:t>
            </a:r>
          </a:p>
          <a:p>
            <a:pPr>
              <a:lnSpc>
                <a:spcPct val="110000"/>
              </a:lnSpc>
            </a:pPr>
            <a:r>
              <a:rPr lang="en-US" sz="6400" b="1" dirty="0"/>
              <a:t>Ternary</a:t>
            </a:r>
            <a:br>
              <a:rPr lang="en-US" sz="6400" b="1" dirty="0"/>
            </a:br>
            <a:r>
              <a:rPr lang="en-US" sz="6400" b="1" dirty="0"/>
              <a:t>?:</a:t>
            </a:r>
          </a:p>
          <a:p>
            <a:pPr>
              <a:lnSpc>
                <a:spcPct val="110000"/>
              </a:lnSpc>
            </a:pPr>
            <a:r>
              <a:rPr lang="en-US" sz="6400" b="1" dirty="0"/>
              <a:t>Assignment</a:t>
            </a:r>
            <a:br>
              <a:rPr lang="en-US" sz="6400" b="1" dirty="0"/>
            </a:br>
            <a:r>
              <a:rPr lang="en-US" sz="6400" b="1" dirty="0"/>
              <a:t>=  +=  -=  *=  /=  %=  &gt;  &gt;=  &lt;  &lt;=  &amp;=  ^=  |=</a:t>
            </a:r>
          </a:p>
          <a:p>
            <a:pPr>
              <a:lnSpc>
                <a:spcPct val="110000"/>
              </a:lnSpc>
            </a:pPr>
            <a:endParaRPr lang="en-US" sz="6400" b="1" dirty="0"/>
          </a:p>
        </p:txBody>
      </p:sp>
      <p:sp>
        <p:nvSpPr>
          <p:cNvPr id="5" name="Slide Number Placeholder 4"/>
          <p:cNvSpPr>
            <a:spLocks noGrp="1"/>
          </p:cNvSpPr>
          <p:nvPr>
            <p:ph type="sldNum" sz="quarter" idx="12"/>
          </p:nvPr>
        </p:nvSpPr>
        <p:spPr/>
        <p:txBody>
          <a:bodyPr/>
          <a:lstStyle/>
          <a:p>
            <a:fld id="{C7FBA0D5-7D5A-48E1-8F8C-C7CE70F89C56}" type="slidenum">
              <a:rPr lang="en-US" smtClean="0"/>
              <a:t>16</a:t>
            </a:fld>
            <a:endParaRPr lang="en-US"/>
          </a:p>
        </p:txBody>
      </p:sp>
    </p:spTree>
    <p:extLst>
      <p:ext uri="{BB962C8B-B14F-4D97-AF65-F5344CB8AC3E}">
        <p14:creationId xmlns:p14="http://schemas.microsoft.com/office/powerpoint/2010/main" val="1298268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If, </a:t>
            </a:r>
            <a:r>
              <a:rPr lang="en-US" sz="3200" b="1" dirty="0" err="1">
                <a:solidFill>
                  <a:srgbClr val="A20000"/>
                </a:solidFill>
                <a:latin typeface="Times New Roman" panose="02020603050405020304" pitchFamily="18" charset="0"/>
                <a:ea typeface="+mn-ea"/>
                <a:cs typeface="Times New Roman" panose="02020603050405020304" pitchFamily="18" charset="0"/>
              </a:rPr>
              <a:t>If..else</a:t>
            </a:r>
            <a:r>
              <a:rPr lang="en-US" sz="3200" b="1" dirty="0">
                <a:solidFill>
                  <a:srgbClr val="A20000"/>
                </a:solidFill>
                <a:latin typeface="Times New Roman" panose="02020603050405020304" pitchFamily="18" charset="0"/>
                <a:ea typeface="+mn-ea"/>
                <a:cs typeface="Times New Roman" panose="02020603050405020304" pitchFamily="18" charset="0"/>
              </a:rPr>
              <a:t> Statement in Java</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t>a) if statement</a:t>
            </a:r>
            <a:br>
              <a:rPr lang="en-US" dirty="0"/>
            </a:br>
            <a:r>
              <a:rPr lang="en-US" dirty="0"/>
              <a:t>b) nested if statement</a:t>
            </a:r>
            <a:br>
              <a:rPr lang="en-US" dirty="0"/>
            </a:br>
            <a:r>
              <a:rPr lang="en-US" dirty="0"/>
              <a:t>c) if-else statement</a:t>
            </a:r>
            <a:br>
              <a:rPr lang="en-US" dirty="0"/>
            </a:br>
            <a:r>
              <a:rPr lang="en-US" dirty="0"/>
              <a:t>d) if-else-if statement</a:t>
            </a:r>
          </a:p>
          <a:p>
            <a:pPr marL="0" indent="0">
              <a:buNone/>
            </a:pPr>
            <a:endParaRPr lang="en-US" dirty="0"/>
          </a:p>
        </p:txBody>
      </p:sp>
      <p:sp>
        <p:nvSpPr>
          <p:cNvPr id="5" name="Slide Number Placeholder 4"/>
          <p:cNvSpPr>
            <a:spLocks noGrp="1"/>
          </p:cNvSpPr>
          <p:nvPr>
            <p:ph type="sldNum" sz="quarter" idx="12"/>
          </p:nvPr>
        </p:nvSpPr>
        <p:spPr/>
        <p:txBody>
          <a:bodyPr/>
          <a:lstStyle/>
          <a:p>
            <a:fld id="{C7FBA0D5-7D5A-48E1-8F8C-C7CE70F89C56}" type="slidenum">
              <a:rPr lang="en-US" smtClean="0"/>
              <a:t>17</a:t>
            </a:fld>
            <a:endParaRPr lang="en-US"/>
          </a:p>
        </p:txBody>
      </p:sp>
    </p:spTree>
    <p:extLst>
      <p:ext uri="{BB962C8B-B14F-4D97-AF65-F5344CB8AC3E}">
        <p14:creationId xmlns:p14="http://schemas.microsoft.com/office/powerpoint/2010/main" val="2623594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Output??</a:t>
            </a:r>
          </a:p>
        </p:txBody>
      </p:sp>
      <p:pic>
        <p:nvPicPr>
          <p:cNvPr id="6" name="Content Placeholder 5"/>
          <p:cNvPicPr>
            <a:picLocks noGrp="1" noChangeAspect="1"/>
          </p:cNvPicPr>
          <p:nvPr>
            <p:ph idx="1"/>
          </p:nvPr>
        </p:nvPicPr>
        <p:blipFill>
          <a:blip r:embed="rId2"/>
          <a:stretch>
            <a:fillRect/>
          </a:stretch>
        </p:blipFill>
        <p:spPr>
          <a:xfrm>
            <a:off x="954110" y="1271833"/>
            <a:ext cx="9052775" cy="4924180"/>
          </a:xfrm>
          <a:prstGeom prst="rect">
            <a:avLst/>
          </a:prstGeom>
        </p:spPr>
      </p:pic>
      <p:sp>
        <p:nvSpPr>
          <p:cNvPr id="4" name="Slide Number Placeholder 3"/>
          <p:cNvSpPr>
            <a:spLocks noGrp="1"/>
          </p:cNvSpPr>
          <p:nvPr>
            <p:ph type="sldNum" sz="quarter" idx="12"/>
          </p:nvPr>
        </p:nvSpPr>
        <p:spPr/>
        <p:txBody>
          <a:bodyPr/>
          <a:lstStyle/>
          <a:p>
            <a:fld id="{C7FBA0D5-7D5A-48E1-8F8C-C7CE70F89C56}" type="slidenum">
              <a:rPr lang="en-US" smtClean="0"/>
              <a:t>18</a:t>
            </a:fld>
            <a:endParaRPr lang="en-US"/>
          </a:p>
        </p:txBody>
      </p:sp>
    </p:spTree>
    <p:extLst>
      <p:ext uri="{BB962C8B-B14F-4D97-AF65-F5344CB8AC3E}">
        <p14:creationId xmlns:p14="http://schemas.microsoft.com/office/powerpoint/2010/main" val="1257286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Switch Case statement in Java with example</a:t>
            </a:r>
            <a:br>
              <a:rPr lang="en-US" b="1" dirty="0"/>
            </a:br>
            <a:endParaRPr lang="en-US" dirty="0"/>
          </a:p>
        </p:txBody>
      </p:sp>
      <p:pic>
        <p:nvPicPr>
          <p:cNvPr id="8" name="Content Placeholder 7"/>
          <p:cNvPicPr>
            <a:picLocks noGrp="1" noChangeAspect="1"/>
          </p:cNvPicPr>
          <p:nvPr>
            <p:ph idx="1"/>
          </p:nvPr>
        </p:nvPicPr>
        <p:blipFill>
          <a:blip r:embed="rId2"/>
          <a:stretch>
            <a:fillRect/>
          </a:stretch>
        </p:blipFill>
        <p:spPr>
          <a:xfrm>
            <a:off x="1044314" y="1690687"/>
            <a:ext cx="10009135" cy="4014653"/>
          </a:xfrm>
          <a:prstGeom prst="rect">
            <a:avLst/>
          </a:prstGeom>
        </p:spPr>
      </p:pic>
      <p:sp>
        <p:nvSpPr>
          <p:cNvPr id="4" name="Slide Number Placeholder 3"/>
          <p:cNvSpPr>
            <a:spLocks noGrp="1"/>
          </p:cNvSpPr>
          <p:nvPr>
            <p:ph type="sldNum" sz="quarter" idx="12"/>
          </p:nvPr>
        </p:nvSpPr>
        <p:spPr/>
        <p:txBody>
          <a:bodyPr/>
          <a:lstStyle/>
          <a:p>
            <a:fld id="{C7FBA0D5-7D5A-48E1-8F8C-C7CE70F89C56}" type="slidenum">
              <a:rPr lang="en-US" smtClean="0"/>
              <a:t>19</a:t>
            </a:fld>
            <a:endParaRPr lang="en-US"/>
          </a:p>
        </p:txBody>
      </p:sp>
    </p:spTree>
    <p:extLst>
      <p:ext uri="{BB962C8B-B14F-4D97-AF65-F5344CB8AC3E}">
        <p14:creationId xmlns:p14="http://schemas.microsoft.com/office/powerpoint/2010/main" val="1995982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Switch Case Example</a:t>
            </a:r>
          </a:p>
        </p:txBody>
      </p:sp>
      <p:pic>
        <p:nvPicPr>
          <p:cNvPr id="4" name="Content Placeholder 3"/>
          <p:cNvPicPr>
            <a:picLocks noGrp="1" noChangeAspect="1"/>
          </p:cNvPicPr>
          <p:nvPr>
            <p:ph idx="1"/>
          </p:nvPr>
        </p:nvPicPr>
        <p:blipFill>
          <a:blip r:embed="rId2"/>
          <a:stretch>
            <a:fillRect/>
          </a:stretch>
        </p:blipFill>
        <p:spPr>
          <a:xfrm>
            <a:off x="838200" y="1690689"/>
            <a:ext cx="9142927" cy="4819496"/>
          </a:xfrm>
          <a:prstGeom prst="rect">
            <a:avLst/>
          </a:prstGeom>
        </p:spPr>
      </p:pic>
      <p:sp>
        <p:nvSpPr>
          <p:cNvPr id="5" name="Slide Number Placeholder 4"/>
          <p:cNvSpPr>
            <a:spLocks noGrp="1"/>
          </p:cNvSpPr>
          <p:nvPr>
            <p:ph type="sldNum" sz="quarter" idx="12"/>
          </p:nvPr>
        </p:nvSpPr>
        <p:spPr/>
        <p:txBody>
          <a:bodyPr/>
          <a:lstStyle/>
          <a:p>
            <a:fld id="{C7FBA0D5-7D5A-48E1-8F8C-C7CE70F89C56}" type="slidenum">
              <a:rPr lang="en-US" smtClean="0"/>
              <a:t>20</a:t>
            </a:fld>
            <a:endParaRPr lang="en-US"/>
          </a:p>
        </p:txBody>
      </p:sp>
    </p:spTree>
    <p:extLst>
      <p:ext uri="{BB962C8B-B14F-4D97-AF65-F5344CB8AC3E}">
        <p14:creationId xmlns:p14="http://schemas.microsoft.com/office/powerpoint/2010/main" val="2846272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Switch with Break :</a:t>
            </a:r>
          </a:p>
        </p:txBody>
      </p:sp>
      <p:pic>
        <p:nvPicPr>
          <p:cNvPr id="5" name="Content Placeholder 4"/>
          <p:cNvPicPr>
            <a:picLocks noGrp="1" noChangeAspect="1"/>
          </p:cNvPicPr>
          <p:nvPr>
            <p:ph idx="1"/>
          </p:nvPr>
        </p:nvPicPr>
        <p:blipFill>
          <a:blip r:embed="rId2"/>
          <a:stretch>
            <a:fillRect/>
          </a:stretch>
        </p:blipFill>
        <p:spPr>
          <a:xfrm>
            <a:off x="579550" y="1825625"/>
            <a:ext cx="9968248" cy="4351338"/>
          </a:xfrm>
          <a:prstGeom prst="rect">
            <a:avLst/>
          </a:prstGeom>
        </p:spPr>
      </p:pic>
      <p:sp>
        <p:nvSpPr>
          <p:cNvPr id="4" name="Slide Number Placeholder 3"/>
          <p:cNvSpPr>
            <a:spLocks noGrp="1"/>
          </p:cNvSpPr>
          <p:nvPr>
            <p:ph type="sldNum" sz="quarter" idx="12"/>
          </p:nvPr>
        </p:nvSpPr>
        <p:spPr/>
        <p:txBody>
          <a:bodyPr/>
          <a:lstStyle/>
          <a:p>
            <a:fld id="{C7FBA0D5-7D5A-48E1-8F8C-C7CE70F89C56}" type="slidenum">
              <a:rPr lang="en-US" smtClean="0"/>
              <a:t>21</a:t>
            </a:fld>
            <a:endParaRPr lang="en-US"/>
          </a:p>
        </p:txBody>
      </p:sp>
    </p:spTree>
    <p:extLst>
      <p:ext uri="{BB962C8B-B14F-4D97-AF65-F5344CB8AC3E}">
        <p14:creationId xmlns:p14="http://schemas.microsoft.com/office/powerpoint/2010/main" val="2104596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Important for Switch</a:t>
            </a:r>
            <a:r>
              <a:rPr lang="en-US" dirty="0"/>
              <a:t> (For MCQ )</a:t>
            </a:r>
          </a:p>
        </p:txBody>
      </p:sp>
      <p:sp>
        <p:nvSpPr>
          <p:cNvPr id="3" name="Content Placeholder 2"/>
          <p:cNvSpPr>
            <a:spLocks noGrp="1"/>
          </p:cNvSpPr>
          <p:nvPr>
            <p:ph idx="1"/>
          </p:nvPr>
        </p:nvSpPr>
        <p:spPr/>
        <p:txBody>
          <a:bodyPr/>
          <a:lstStyle/>
          <a:p>
            <a:pPr marL="0" indent="0">
              <a:buNone/>
            </a:pPr>
            <a:r>
              <a:rPr lang="en-US" sz="3200" b="1" dirty="0">
                <a:solidFill>
                  <a:srgbClr val="A20000"/>
                </a:solidFill>
                <a:latin typeface="Times New Roman" panose="02020603050405020304" pitchFamily="18" charset="0"/>
                <a:cs typeface="Times New Roman" panose="02020603050405020304" pitchFamily="18" charset="0"/>
              </a:rPr>
              <a:t>Few points about Switch Case</a:t>
            </a:r>
          </a:p>
          <a:p>
            <a:pPr>
              <a:buFont typeface="Wingdings" panose="05000000000000000000" pitchFamily="2" charset="2"/>
              <a:buChar char="Ø"/>
            </a:pPr>
            <a:r>
              <a:rPr lang="en-US" sz="2400" dirty="0"/>
              <a:t>Case doesn’t always need to have order 1, 2, 3 and so on. It can have any integer value after case keyword. Also, case doesn’t need to be in an ascending order always, you can specify them in any order based on the requirement.</a:t>
            </a:r>
          </a:p>
          <a:p>
            <a:pPr>
              <a:buFont typeface="Wingdings" panose="05000000000000000000" pitchFamily="2" charset="2"/>
              <a:buChar char="Ø"/>
            </a:pPr>
            <a:r>
              <a:rPr lang="en-US" sz="2400" dirty="0"/>
              <a:t>Use characters in switch case.</a:t>
            </a:r>
          </a:p>
          <a:p>
            <a:pPr>
              <a:buFont typeface="Wingdings" panose="05000000000000000000" pitchFamily="2" charset="2"/>
              <a:buChar char="Ø"/>
            </a:pPr>
            <a:r>
              <a:rPr lang="en-US" sz="2400" dirty="0"/>
              <a:t> Nesting of switch statements are allowed, which means you can have switch statements inside another switch.</a:t>
            </a:r>
          </a:p>
          <a:p>
            <a:endParaRPr lang="en-US" dirty="0"/>
          </a:p>
        </p:txBody>
      </p:sp>
      <p:sp>
        <p:nvSpPr>
          <p:cNvPr id="5" name="Slide Number Placeholder 4"/>
          <p:cNvSpPr>
            <a:spLocks noGrp="1"/>
          </p:cNvSpPr>
          <p:nvPr>
            <p:ph type="sldNum" sz="quarter" idx="12"/>
          </p:nvPr>
        </p:nvSpPr>
        <p:spPr/>
        <p:txBody>
          <a:bodyPr/>
          <a:lstStyle/>
          <a:p>
            <a:fld id="{C7FBA0D5-7D5A-48E1-8F8C-C7CE70F89C56}" type="slidenum">
              <a:rPr lang="en-US" smtClean="0"/>
              <a:t>22</a:t>
            </a:fld>
            <a:endParaRPr lang="en-US"/>
          </a:p>
        </p:txBody>
      </p:sp>
    </p:spTree>
    <p:extLst>
      <p:ext uri="{BB962C8B-B14F-4D97-AF65-F5344CB8AC3E}">
        <p14:creationId xmlns:p14="http://schemas.microsoft.com/office/powerpoint/2010/main" val="1654728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sz="9600" b="1" dirty="0">
              <a:solidFill>
                <a:srgbClr val="C00000"/>
              </a:solidFill>
              <a:latin typeface="Times New Roman" panose="02020603050405020304" pitchFamily="18" charset="0"/>
              <a:cs typeface="Times New Roman" panose="02020603050405020304" pitchFamily="18" charset="0"/>
            </a:endParaRPr>
          </a:p>
          <a:p>
            <a:pPr marL="0" indent="0" algn="ctr">
              <a:buNone/>
            </a:pPr>
            <a:r>
              <a:rPr lang="en-US" sz="9600" b="1" dirty="0">
                <a:solidFill>
                  <a:srgbClr val="C00000"/>
                </a:solidFill>
                <a:latin typeface="Times New Roman" panose="02020603050405020304" pitchFamily="18" charset="0"/>
                <a:cs typeface="Times New Roman" panose="02020603050405020304" pitchFamily="18" charset="0"/>
              </a:rPr>
              <a:t>THANKS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7FBA0D5-7D5A-48E1-8F8C-C7CE70F89C56}" type="slidenum">
              <a:rPr lang="en-US" smtClean="0"/>
              <a:t>23</a:t>
            </a:fld>
            <a:endParaRPr lang="en-US"/>
          </a:p>
        </p:txBody>
      </p:sp>
    </p:spTree>
    <p:extLst>
      <p:ext uri="{BB962C8B-B14F-4D97-AF65-F5344CB8AC3E}">
        <p14:creationId xmlns:p14="http://schemas.microsoft.com/office/powerpoint/2010/main" val="3717123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513</TotalTime>
  <Words>1428</Words>
  <Application>Microsoft Office PowerPoint</Application>
  <PresentationFormat>Widescreen</PresentationFormat>
  <Paragraphs>134</Paragraphs>
  <Slides>23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Courier New</vt:lpstr>
      <vt:lpstr>Times New Roman</vt:lpstr>
      <vt:lpstr>Wingdings</vt:lpstr>
      <vt:lpstr>Office Theme</vt:lpstr>
      <vt:lpstr>Main Features of JAVA </vt:lpstr>
      <vt:lpstr>Object Oriented language </vt:lpstr>
      <vt:lpstr>Simple </vt:lpstr>
      <vt:lpstr>Robust Language </vt:lpstr>
      <vt:lpstr>PowerPoint Presentation</vt:lpstr>
      <vt:lpstr> </vt:lpstr>
      <vt:lpstr>PowerPoint Presentation</vt:lpstr>
      <vt:lpstr>PowerPoint Presentation</vt:lpstr>
      <vt:lpstr>JVM Architecture </vt:lpstr>
      <vt:lpstr>PowerPoint Presentation</vt:lpstr>
      <vt:lpstr>Types of Variables in Java </vt:lpstr>
      <vt:lpstr>PowerPoint Presentation</vt:lpstr>
      <vt:lpstr>Types of Operator in Java </vt:lpstr>
      <vt:lpstr>Logical and Relational Operators </vt:lpstr>
      <vt:lpstr>Bitwise Operators </vt:lpstr>
      <vt:lpstr>Operator Precedence in Java </vt:lpstr>
      <vt:lpstr>If, If..else Statement in Java </vt:lpstr>
      <vt:lpstr>Output??</vt:lpstr>
      <vt:lpstr>Switch Case statement in Java with example </vt:lpstr>
      <vt:lpstr>Switch Case Example</vt:lpstr>
      <vt:lpstr>Switch with Break :</vt:lpstr>
      <vt:lpstr>Important for Switch (For MCQ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Vinay Kumar CSIT</cp:lastModifiedBy>
  <cp:revision>33</cp:revision>
  <dcterms:created xsi:type="dcterms:W3CDTF">2021-09-20T03:22:49Z</dcterms:created>
  <dcterms:modified xsi:type="dcterms:W3CDTF">2024-07-12T16:11:28Z</dcterms:modified>
</cp:coreProperties>
</file>